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Arimo" panose="020B0604020202020204" charset="0"/>
      <p:regular r:id="rId22"/>
    </p:embeddedFont>
    <p:embeddedFont>
      <p:font typeface="Arimo Bold" panose="020B0604020202020204" charset="0"/>
      <p:regular r:id="rId23"/>
    </p:embeddedFont>
    <p:embeddedFont>
      <p:font typeface="Inter" panose="020B0604020202020204" charset="0"/>
      <p:regular r:id="rId24"/>
    </p:embeddedFont>
    <p:embeddedFont>
      <p:font typeface="Inter Bold" panose="020B0604020202020204" charset="0"/>
      <p:regular r:id="rId25"/>
    </p:embeddedFont>
    <p:embeddedFont>
      <p:font typeface="Inter Medium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1014" y="4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.jpe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991106" y="1562481"/>
            <a:ext cx="14305788" cy="7162038"/>
            <a:chOff x="0" y="0"/>
            <a:chExt cx="19074384" cy="95493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074385" cy="9549384"/>
            </a:xfrm>
            <a:custGeom>
              <a:avLst/>
              <a:gdLst/>
              <a:ahLst/>
              <a:cxnLst/>
              <a:rect l="l" t="t" r="r" b="b"/>
              <a:pathLst>
                <a:path w="19074385" h="9549384">
                  <a:moveTo>
                    <a:pt x="0" y="0"/>
                  </a:moveTo>
                  <a:lnTo>
                    <a:pt x="19074385" y="0"/>
                  </a:lnTo>
                  <a:lnTo>
                    <a:pt x="19074385" y="9549384"/>
                  </a:lnTo>
                  <a:lnTo>
                    <a:pt x="0" y="9549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33" r="-14233"/>
              </a:stretch>
            </a:blipFill>
            <a:ln w="18288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3007437" y="7675463"/>
            <a:ext cx="7767147" cy="723900"/>
            <a:chOff x="0" y="0"/>
            <a:chExt cx="10356195" cy="9652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33325"/>
              <a:ext cx="630259" cy="342900"/>
              <a:chOff x="0" y="0"/>
              <a:chExt cx="630259" cy="342900"/>
            </a:xfrm>
          </p:grpSpPr>
          <p:sp>
            <p:nvSpPr>
              <p:cNvPr id="8" name="Freeform 8" descr="preencoded.png"/>
              <p:cNvSpPr/>
              <p:nvPr/>
            </p:nvSpPr>
            <p:spPr>
              <a:xfrm>
                <a:off x="0" y="0"/>
                <a:ext cx="630259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630259" h="342900">
                    <a:moveTo>
                      <a:pt x="0" y="0"/>
                    </a:moveTo>
                    <a:lnTo>
                      <a:pt x="630259" y="0"/>
                    </a:lnTo>
                    <a:lnTo>
                      <a:pt x="630259" y="342900"/>
                    </a:lnTo>
                    <a:lnTo>
                      <a:pt x="0" y="3429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t="-23521" b="-23521"/>
                </a:stretch>
              </a:blipFill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910374" y="0"/>
              <a:ext cx="9445821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GVHD: Đỗ Thành Long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Môn học: Phát triển phần mềm GIS mã nguồn mở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007437" y="4014804"/>
            <a:ext cx="12165816" cy="3374946"/>
            <a:chOff x="0" y="0"/>
            <a:chExt cx="16221087" cy="4499928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454260" cy="342900"/>
              <a:chOff x="0" y="0"/>
              <a:chExt cx="454260" cy="342900"/>
            </a:xfrm>
          </p:grpSpPr>
          <p:sp>
            <p:nvSpPr>
              <p:cNvPr id="13" name="Freeform 13" descr="preencoded.png"/>
              <p:cNvSpPr/>
              <p:nvPr/>
            </p:nvSpPr>
            <p:spPr>
              <a:xfrm>
                <a:off x="0" y="0"/>
                <a:ext cx="45426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454260" h="342900">
                    <a:moveTo>
                      <a:pt x="0" y="0"/>
                    </a:moveTo>
                    <a:lnTo>
                      <a:pt x="454260" y="0"/>
                    </a:lnTo>
                    <a:lnTo>
                      <a:pt x="454260" y="342900"/>
                    </a:lnTo>
                    <a:lnTo>
                      <a:pt x="0" y="3429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t="-4462" b="-4462"/>
                </a:stretch>
              </a:blipFill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587120" y="0"/>
              <a:ext cx="5899138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Thành viên thực hiện: Nhóm 9</a:t>
              </a:r>
            </a:p>
          </p:txBody>
        </p:sp>
      </p:grpSp>
      <p:graphicFrame>
        <p:nvGraphicFramePr>
          <p:cNvPr id="11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477445"/>
              </p:ext>
            </p:extLst>
          </p:nvPr>
        </p:nvGraphicFramePr>
        <p:xfrm>
          <a:off x="3007437" y="4467427"/>
          <a:ext cx="12165816" cy="3012994"/>
        </p:xfrm>
        <a:graphic>
          <a:graphicData uri="http://schemas.openxmlformats.org/drawingml/2006/table">
            <a:tbl>
              <a:tblPr/>
              <a:tblGrid>
                <a:gridCol w="4098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4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33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9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559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Họ và tên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3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MSSV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3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Họ và tên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3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MSSV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559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Lê Huyền My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23166056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Huỳnh Thị Ngọc Trâm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23166113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96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Lê Ngọc Tâm Như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23166073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Trần Minh Đức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23166018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972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Lê Yến Nhi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23166069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Nguyễn Đình Chí Bảo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23166011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972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Trần Trung Văn Hậu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23166027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Nguyễn Thanh Khiết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23166039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972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Lưu Tuấn Anh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23166002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2640956" y="1961214"/>
            <a:ext cx="13006087" cy="204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5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Xây dựng WebGIS trực quan hoá và ước lượng giá đất theo khung giá nhà nước tại TP.HCM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998652"/>
            <a:ext cx="16116300" cy="1574436"/>
            <a:chOff x="0" y="-19050"/>
            <a:chExt cx="21488400" cy="2099248"/>
          </a:xfrm>
        </p:grpSpPr>
        <p:sp>
          <p:nvSpPr>
            <p:cNvPr id="3" name="TextBox 3"/>
            <p:cNvSpPr txBox="1"/>
            <p:nvPr/>
          </p:nvSpPr>
          <p:spPr>
            <a:xfrm>
              <a:off x="0" y="581069"/>
              <a:ext cx="21488400" cy="1499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608"/>
                </a:lnSpc>
              </a:pP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Dữ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liệu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giá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đất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chủ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yếu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lưu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trữ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ở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dạng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bảng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biểu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(excel), pdf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hoặc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bản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đồ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giấy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,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gây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khó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khăn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cực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lớn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trong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việc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tra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cứu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và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quản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lý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không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gian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10801" y="-19050"/>
              <a:ext cx="1491385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CA31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HẠN CHẾ VỀ CÔNG CỤ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013604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CA31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02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2170372"/>
            <a:ext cx="16116300" cy="1574436"/>
            <a:chOff x="0" y="-19050"/>
            <a:chExt cx="21488400" cy="2099249"/>
          </a:xfrm>
        </p:grpSpPr>
        <p:sp>
          <p:nvSpPr>
            <p:cNvPr id="7" name="TextBox 7"/>
            <p:cNvSpPr txBox="1"/>
            <p:nvPr/>
          </p:nvSpPr>
          <p:spPr>
            <a:xfrm>
              <a:off x="0" y="581069"/>
              <a:ext cx="21488400" cy="1499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608"/>
                </a:lnSpc>
              </a:pP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Thị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trường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bất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động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sản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tại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TP.HCM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có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mức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biến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động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giá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lớn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và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chịu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ảnh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hưởng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mạnh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bởi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vị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trí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địa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lý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,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hạ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tầng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giao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thông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,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các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tiện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ích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xung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000" dirty="0" err="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quanh</a:t>
              </a:r>
              <a:r>
                <a:rPr lang="en-US" sz="3000" dirty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... 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8033" y="-19050"/>
              <a:ext cx="14980248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CA31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SỰ PHỨC TẠP CỦA THỊ TRƯỜNG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180998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CA31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01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942975"/>
            <a:ext cx="15531903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THÁCH THỨC QUẢN LÝ DỮ LIỆU </a:t>
            </a:r>
          </a:p>
        </p:txBody>
      </p:sp>
      <p:sp>
        <p:nvSpPr>
          <p:cNvPr id="11" name="AutoShape 11"/>
          <p:cNvSpPr/>
          <p:nvPr/>
        </p:nvSpPr>
        <p:spPr>
          <a:xfrm flipV="1">
            <a:off x="1028700" y="1733550"/>
            <a:ext cx="16230600" cy="95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3000" y="828675"/>
            <a:ext cx="11170933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MỤC TIÊU XÂY DỰNG HỆ THỐNG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2231035"/>
            <a:ext cx="5117268" cy="7027265"/>
            <a:chOff x="0" y="0"/>
            <a:chExt cx="1347758" cy="18508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47758" cy="1850802"/>
            </a:xfrm>
            <a:custGeom>
              <a:avLst/>
              <a:gdLst/>
              <a:ahLst/>
              <a:cxnLst/>
              <a:rect l="l" t="t" r="r" b="b"/>
              <a:pathLst>
                <a:path w="1347758" h="1850802">
                  <a:moveTo>
                    <a:pt x="77158" y="0"/>
                  </a:moveTo>
                  <a:lnTo>
                    <a:pt x="1270600" y="0"/>
                  </a:lnTo>
                  <a:cubicBezTo>
                    <a:pt x="1291063" y="0"/>
                    <a:pt x="1310689" y="8129"/>
                    <a:pt x="1325159" y="22599"/>
                  </a:cubicBezTo>
                  <a:cubicBezTo>
                    <a:pt x="1339629" y="37069"/>
                    <a:pt x="1347758" y="56694"/>
                    <a:pt x="1347758" y="77158"/>
                  </a:cubicBezTo>
                  <a:lnTo>
                    <a:pt x="1347758" y="1773644"/>
                  </a:lnTo>
                  <a:cubicBezTo>
                    <a:pt x="1347758" y="1794108"/>
                    <a:pt x="1339629" y="1813733"/>
                    <a:pt x="1325159" y="1828203"/>
                  </a:cubicBezTo>
                  <a:cubicBezTo>
                    <a:pt x="1310689" y="1842673"/>
                    <a:pt x="1291063" y="1850802"/>
                    <a:pt x="1270600" y="1850802"/>
                  </a:cubicBezTo>
                  <a:lnTo>
                    <a:pt x="77158" y="1850802"/>
                  </a:lnTo>
                  <a:cubicBezTo>
                    <a:pt x="56694" y="1850802"/>
                    <a:pt x="37069" y="1842673"/>
                    <a:pt x="22599" y="1828203"/>
                  </a:cubicBezTo>
                  <a:cubicBezTo>
                    <a:pt x="8129" y="1813733"/>
                    <a:pt x="0" y="1794108"/>
                    <a:pt x="0" y="1773644"/>
                  </a:cubicBezTo>
                  <a:lnTo>
                    <a:pt x="0" y="77158"/>
                  </a:lnTo>
                  <a:cubicBezTo>
                    <a:pt x="0" y="56694"/>
                    <a:pt x="8129" y="37069"/>
                    <a:pt x="22599" y="22599"/>
                  </a:cubicBezTo>
                  <a:cubicBezTo>
                    <a:pt x="37069" y="8129"/>
                    <a:pt x="56694" y="0"/>
                    <a:pt x="77158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347758" cy="1860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573385" y="2231035"/>
            <a:ext cx="5374489" cy="7027265"/>
            <a:chOff x="0" y="0"/>
            <a:chExt cx="1415503" cy="18508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15503" cy="1850802"/>
            </a:xfrm>
            <a:custGeom>
              <a:avLst/>
              <a:gdLst/>
              <a:ahLst/>
              <a:cxnLst/>
              <a:rect l="l" t="t" r="r" b="b"/>
              <a:pathLst>
                <a:path w="1415503" h="1850802">
                  <a:moveTo>
                    <a:pt x="73465" y="0"/>
                  </a:moveTo>
                  <a:lnTo>
                    <a:pt x="1342038" y="0"/>
                  </a:lnTo>
                  <a:cubicBezTo>
                    <a:pt x="1361522" y="0"/>
                    <a:pt x="1380208" y="7740"/>
                    <a:pt x="1393986" y="21517"/>
                  </a:cubicBezTo>
                  <a:cubicBezTo>
                    <a:pt x="1407763" y="35295"/>
                    <a:pt x="1415503" y="53981"/>
                    <a:pt x="1415503" y="73465"/>
                  </a:cubicBezTo>
                  <a:lnTo>
                    <a:pt x="1415503" y="1777337"/>
                  </a:lnTo>
                  <a:cubicBezTo>
                    <a:pt x="1415503" y="1817911"/>
                    <a:pt x="1382612" y="1850802"/>
                    <a:pt x="1342038" y="1850802"/>
                  </a:cubicBezTo>
                  <a:lnTo>
                    <a:pt x="73465" y="1850802"/>
                  </a:lnTo>
                  <a:cubicBezTo>
                    <a:pt x="53981" y="1850802"/>
                    <a:pt x="35295" y="1843062"/>
                    <a:pt x="21517" y="1829285"/>
                  </a:cubicBezTo>
                  <a:cubicBezTo>
                    <a:pt x="7740" y="1815507"/>
                    <a:pt x="0" y="1796821"/>
                    <a:pt x="0" y="1777337"/>
                  </a:cubicBezTo>
                  <a:lnTo>
                    <a:pt x="0" y="73465"/>
                  </a:lnTo>
                  <a:cubicBezTo>
                    <a:pt x="0" y="53981"/>
                    <a:pt x="7740" y="35295"/>
                    <a:pt x="21517" y="21517"/>
                  </a:cubicBezTo>
                  <a:cubicBezTo>
                    <a:pt x="35295" y="7740"/>
                    <a:pt x="53981" y="0"/>
                    <a:pt x="73465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415503" cy="1860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13933" y="2231035"/>
            <a:ext cx="5193561" cy="7027265"/>
            <a:chOff x="0" y="0"/>
            <a:chExt cx="1367851" cy="18508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7851" cy="1850802"/>
            </a:xfrm>
            <a:custGeom>
              <a:avLst/>
              <a:gdLst/>
              <a:ahLst/>
              <a:cxnLst/>
              <a:rect l="l" t="t" r="r" b="b"/>
              <a:pathLst>
                <a:path w="1367851" h="1850802">
                  <a:moveTo>
                    <a:pt x="76025" y="0"/>
                  </a:moveTo>
                  <a:lnTo>
                    <a:pt x="1291827" y="0"/>
                  </a:lnTo>
                  <a:cubicBezTo>
                    <a:pt x="1333814" y="0"/>
                    <a:pt x="1367851" y="34037"/>
                    <a:pt x="1367851" y="76025"/>
                  </a:cubicBezTo>
                  <a:lnTo>
                    <a:pt x="1367851" y="1774778"/>
                  </a:lnTo>
                  <a:cubicBezTo>
                    <a:pt x="1367851" y="1816765"/>
                    <a:pt x="1333814" y="1850802"/>
                    <a:pt x="1291827" y="1850802"/>
                  </a:cubicBezTo>
                  <a:lnTo>
                    <a:pt x="76025" y="1850802"/>
                  </a:lnTo>
                  <a:cubicBezTo>
                    <a:pt x="34037" y="1850802"/>
                    <a:pt x="0" y="1816765"/>
                    <a:pt x="0" y="1774778"/>
                  </a:cubicBezTo>
                  <a:lnTo>
                    <a:pt x="0" y="76025"/>
                  </a:lnTo>
                  <a:cubicBezTo>
                    <a:pt x="0" y="34037"/>
                    <a:pt x="34037" y="0"/>
                    <a:pt x="76025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367851" cy="1860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85913" y="2762845"/>
            <a:ext cx="571500" cy="571500"/>
            <a:chOff x="0" y="0"/>
            <a:chExt cx="762000" cy="76200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50" b="-1250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583531" y="3640607"/>
            <a:ext cx="4067137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CÔNG BỐ THÔNG TIN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83531" y="4251669"/>
            <a:ext cx="4067137" cy="3453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08"/>
              </a:lnSpc>
            </a:pP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Đề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tài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hướng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đến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xây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dựng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một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hệ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thống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WebGIS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mã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nguồn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mở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giúp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trực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quan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hóa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giá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đất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trên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nền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bản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đồ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số</a:t>
            </a:r>
            <a:endParaRPr lang="en-US" sz="3000" dirty="0">
              <a:solidFill>
                <a:srgbClr val="33333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650668" y="8292031"/>
            <a:ext cx="150019" cy="575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953218" y="2762845"/>
            <a:ext cx="571500" cy="571500"/>
            <a:chOff x="0" y="0"/>
            <a:chExt cx="762000" cy="76200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6950808" y="3640607"/>
            <a:ext cx="455828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ƯỚC TÍNH THÔNG MINH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51999" y="4251669"/>
            <a:ext cx="4557094" cy="4073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08"/>
              </a:lnSpc>
            </a:pP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Hệ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thống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tích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hợp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mô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hình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học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máy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để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đưa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ra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giá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trị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ước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tính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dựa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trên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giá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và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đặc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trưng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vị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trí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nhằm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hỗ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trợ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tra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cứu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và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ra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quyết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định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một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cách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khách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quan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hơn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666278" y="8292031"/>
            <a:ext cx="150019" cy="575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816250" y="2762845"/>
            <a:ext cx="714375" cy="571500"/>
            <a:chOff x="0" y="0"/>
            <a:chExt cx="952500" cy="762000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952500" cy="762000"/>
            </a:xfrm>
            <a:custGeom>
              <a:avLst/>
              <a:gdLst/>
              <a:ahLst/>
              <a:cxnLst/>
              <a:rect l="l" t="t" r="r" b="b"/>
              <a:pathLst>
                <a:path w="952500" h="762000">
                  <a:moveTo>
                    <a:pt x="0" y="0"/>
                  </a:moveTo>
                  <a:lnTo>
                    <a:pt x="952500" y="0"/>
                  </a:lnTo>
                  <a:lnTo>
                    <a:pt x="9525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12813868" y="3619771"/>
            <a:ext cx="4067137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HỖ TRỢ QUẢN LÝ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16250" y="4305571"/>
            <a:ext cx="4067137" cy="2894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08"/>
              </a:lnSpc>
            </a:pP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Cung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cấp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công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cụ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giúp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đánh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giá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khách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quan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giám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sát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biến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động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thị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trường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và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đưa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ra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chính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sách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phù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hợp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883386" y="8292031"/>
            <a:ext cx="150019" cy="575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25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143000" y="828675"/>
            <a:ext cx="11401017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KHÁI NIỆM VÀ ƯU ĐIỂM WEBGIS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85912" y="2512726"/>
            <a:ext cx="151161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CA311"/>
                </a:solidFill>
                <a:latin typeface="Arimo Bold"/>
                <a:ea typeface="Arimo Bold"/>
                <a:cs typeface="Arimo Bold"/>
                <a:sym typeface="Arimo Bold"/>
              </a:rPr>
              <a:t>ĐỊNH NGHĨA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85912" y="2941368"/>
            <a:ext cx="15116175" cy="1298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6"/>
              </a:lnSpc>
            </a:pP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WebGIS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là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hệ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thống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thông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tin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địa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lý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hoạt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động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trên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nền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web,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cho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phép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người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dùng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truy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cập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quản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lý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và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khai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thác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không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gian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thông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qua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trình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duyệt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Internet. Công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nghệ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này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giúp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chia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sẻ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dễ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dàng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hỗ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trợ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cập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nhật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nhanh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và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tăng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khả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năng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tương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tác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giữa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người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dùng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với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bản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đồ</a:t>
            </a:r>
            <a:r>
              <a:rPr lang="en-US" sz="2400" dirty="0">
                <a:solidFill>
                  <a:srgbClr val="14213D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764000" y="3866159"/>
            <a:ext cx="200025" cy="747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4300" dirty="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43000" y="5586412"/>
            <a:ext cx="214312" cy="285750"/>
            <a:chOff x="0" y="0"/>
            <a:chExt cx="285750" cy="381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285750" cy="381000"/>
            </a:xfrm>
            <a:custGeom>
              <a:avLst/>
              <a:gdLst/>
              <a:ahLst/>
              <a:cxnLst/>
              <a:rect l="l" t="t" r="r" b="b"/>
              <a:pathLst>
                <a:path w="285750" h="381000">
                  <a:moveTo>
                    <a:pt x="0" y="0"/>
                  </a:moveTo>
                  <a:lnTo>
                    <a:pt x="285750" y="0"/>
                  </a:lnTo>
                  <a:lnTo>
                    <a:pt x="2857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500188" y="5544741"/>
            <a:ext cx="4695067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TƯƠNG TÁC THỜI GIAN THỰC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00" y="5985272"/>
            <a:ext cx="7715250" cy="1373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Người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dùng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có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thể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cứu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cập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nhật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và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phản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hồi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thông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tin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ngay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lập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tức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trên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nền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tảng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web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mà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không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cần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cài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đặt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phần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mềm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chuyên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dụng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429750" y="5586412"/>
            <a:ext cx="214312" cy="285750"/>
            <a:chOff x="0" y="0"/>
            <a:chExt cx="285750" cy="38100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285750" cy="381000"/>
            </a:xfrm>
            <a:custGeom>
              <a:avLst/>
              <a:gdLst/>
              <a:ahLst/>
              <a:cxnLst/>
              <a:rect l="l" t="t" r="r" b="b"/>
              <a:pathLst>
                <a:path w="285750" h="381000">
                  <a:moveTo>
                    <a:pt x="0" y="0"/>
                  </a:moveTo>
                  <a:lnTo>
                    <a:pt x="285750" y="0"/>
                  </a:lnTo>
                  <a:lnTo>
                    <a:pt x="2857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9786938" y="5544741"/>
            <a:ext cx="3915833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TRUY CẬP ĐA NỀN TẢNG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29750" y="5985272"/>
            <a:ext cx="7715250" cy="1373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Hệ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thống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hoạt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động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mượt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mà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trên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mọi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thiết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bị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từ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máy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tính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để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bàn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đến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điện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thoại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thông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minh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hỗ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trợ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làm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việc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mọi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lúc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mọi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nơi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43000" y="8199463"/>
            <a:ext cx="250031" cy="285750"/>
            <a:chOff x="0" y="0"/>
            <a:chExt cx="333375" cy="381000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333375" cy="381000"/>
            </a:xfrm>
            <a:custGeom>
              <a:avLst/>
              <a:gdLst/>
              <a:ahLst/>
              <a:cxnLst/>
              <a:rect l="l" t="t" r="r" b="b"/>
              <a:pathLst>
                <a:path w="333375" h="381000">
                  <a:moveTo>
                    <a:pt x="0" y="0"/>
                  </a:moveTo>
                  <a:lnTo>
                    <a:pt x="333375" y="0"/>
                  </a:lnTo>
                  <a:lnTo>
                    <a:pt x="333375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50" b="-1250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535906" y="8157791"/>
            <a:ext cx="475755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CHIA SẺ DỮ LIỆU DỄ DÀNG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8598322"/>
            <a:ext cx="7715250" cy="90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Tối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ưu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hóa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việc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phân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phối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thông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tin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đến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cộng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đồng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một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minh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bạch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và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nhanh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chóng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3000" y="828675"/>
            <a:ext cx="14491249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MÔ HÌNH ƯỚC LƯỢNG GIÁ ĐẤT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39124" y="6730819"/>
            <a:ext cx="522127" cy="464113"/>
            <a:chOff x="0" y="0"/>
            <a:chExt cx="514350" cy="457200"/>
          </a:xfrm>
        </p:grpSpPr>
        <p:sp>
          <p:nvSpPr>
            <p:cNvPr id="4" name="Freeform 4" descr="preencoded.png"/>
            <p:cNvSpPr/>
            <p:nvPr/>
          </p:nvSpPr>
          <p:spPr>
            <a:xfrm>
              <a:off x="0" y="0"/>
              <a:ext cx="514350" cy="457200"/>
            </a:xfrm>
            <a:custGeom>
              <a:avLst/>
              <a:gdLst/>
              <a:ahLst/>
              <a:cxnLst/>
              <a:rect l="l" t="t" r="r" b="b"/>
              <a:pathLst>
                <a:path w="514350" h="457200">
                  <a:moveTo>
                    <a:pt x="0" y="0"/>
                  </a:moveTo>
                  <a:lnTo>
                    <a:pt x="514350" y="0"/>
                  </a:lnTo>
                  <a:lnTo>
                    <a:pt x="5143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2201703" y="6576038"/>
            <a:ext cx="8086725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Dự đoán khu vực chưa có dữ liệu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01703" y="7007044"/>
            <a:ext cx="14847173" cy="518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Đưa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ra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dự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đoán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trong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khu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vực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chưa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có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về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giá</a:t>
            </a:r>
            <a:endParaRPr lang="en-US" sz="3000" dirty="0">
              <a:solidFill>
                <a:srgbClr val="33333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239124" y="4719694"/>
            <a:ext cx="522127" cy="522127"/>
            <a:chOff x="0" y="0"/>
            <a:chExt cx="457200" cy="4572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83" b="-2083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2212538" y="2828133"/>
            <a:ext cx="8303062" cy="476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 err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Điều</a:t>
            </a:r>
            <a:r>
              <a:rPr lang="en-US" sz="3000" b="1" dirty="0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dirty="0" err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chỉnh</a:t>
            </a:r>
            <a:r>
              <a:rPr lang="en-US" sz="3000" b="1" dirty="0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dirty="0" err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dựa</a:t>
            </a:r>
            <a:r>
              <a:rPr lang="en-US" sz="3000" b="1" dirty="0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dirty="0" err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trên</a:t>
            </a:r>
            <a:r>
              <a:rPr lang="en-US" sz="3000" b="1" dirty="0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dirty="0" err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kết</a:t>
            </a:r>
            <a:r>
              <a:rPr lang="en-US" sz="3000" b="1" dirty="0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dirty="0" err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quả</a:t>
            </a:r>
            <a:r>
              <a:rPr lang="en-US" sz="3000" b="1" dirty="0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dirty="0" err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đã</a:t>
            </a:r>
            <a:r>
              <a:rPr lang="en-US" sz="3000" b="1" dirty="0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dirty="0" err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học</a:t>
            </a:r>
            <a:r>
              <a:rPr lang="en-US" sz="3000" b="1" dirty="0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dirty="0" err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trước</a:t>
            </a:r>
            <a:r>
              <a:rPr lang="en-US" sz="3000" b="1" dirty="0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dirty="0" err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đó</a:t>
            </a:r>
            <a:endParaRPr lang="en-US" sz="3000" b="1" dirty="0">
              <a:solidFill>
                <a:srgbClr val="14213D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201703" y="4686107"/>
            <a:ext cx="8086725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Tối ưu hóa với biến phân loại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12538" y="3323604"/>
            <a:ext cx="14489550" cy="1061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Mô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hình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xây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dựng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hàng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nghìn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cây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quyết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định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tuần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tự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liên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tục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điều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chỉnh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để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giảm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sai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số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giảm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nhiễu</a:t>
            </a:r>
            <a:endParaRPr lang="en-US" sz="3000" dirty="0">
              <a:solidFill>
                <a:srgbClr val="33333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201703" y="5181578"/>
            <a:ext cx="14836338" cy="1061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Điểm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vượt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trội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của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CatBoost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là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khả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năng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xử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lý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trực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tiếp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thông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tin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dạng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phân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loại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như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tên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đường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phường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quận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,...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0" y="2064235"/>
            <a:ext cx="7730914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CA311"/>
                </a:solidFill>
                <a:latin typeface="Inter Bold"/>
                <a:ea typeface="Inter Bold"/>
                <a:cs typeface="Inter Bold"/>
                <a:sym typeface="Inter Bold"/>
              </a:rPr>
              <a:t>THUẬT TOÁN CATBOOST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702088" y="7715393"/>
            <a:ext cx="200025" cy="747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43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304051" y="2990033"/>
            <a:ext cx="457200" cy="457200"/>
            <a:chOff x="0" y="0"/>
            <a:chExt cx="609600" cy="609600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143000" y="828675"/>
            <a:ext cx="14296425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QUY TRÌNH THỰC HIỆN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616403" y="2882503"/>
            <a:ext cx="457200" cy="457200"/>
            <a:chOff x="0" y="0"/>
            <a:chExt cx="609600" cy="609600"/>
          </a:xfrm>
        </p:grpSpPr>
        <p:sp>
          <p:nvSpPr>
            <p:cNvPr id="6" name="Freeform 6" descr="preencoded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157288" y="3545681"/>
            <a:ext cx="3382566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dirty="0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01. THU THẬP VÀ XỬ LÝ DỮ LIỆU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7288" y="4391750"/>
            <a:ext cx="3382566" cy="1298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6"/>
              </a:lnSpc>
            </a:pP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Thu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thập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giá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và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đường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ranh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giới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hành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chính</a:t>
            </a:r>
            <a:endParaRPr lang="en-US" sz="2400" dirty="0">
              <a:solidFill>
                <a:srgbClr val="33333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57288" y="7152084"/>
            <a:ext cx="338256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816928" y="2882503"/>
            <a:ext cx="457200" cy="457200"/>
            <a:chOff x="0" y="0"/>
            <a:chExt cx="609600" cy="60960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5354241" y="3545681"/>
            <a:ext cx="3382566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02. XÁC ĐỊNH ĐẶC TRƯNG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54241" y="4391750"/>
            <a:ext cx="3382566" cy="1756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6"/>
              </a:lnSpc>
            </a:pP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Xác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định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đặc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trưng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ảnh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hưởng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giá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để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đưa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vào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huấn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luyện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mô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hình</a:t>
            </a:r>
            <a:endParaRPr lang="en-US" sz="2400" dirty="0">
              <a:solidFill>
                <a:srgbClr val="33333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57288" y="5804498"/>
            <a:ext cx="3382566" cy="1298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6"/>
              </a:lnSpc>
            </a:pP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Chuẩn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hóa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chuyển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đổi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địa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chỉ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trong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file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giá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đất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sang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tọa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độ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địa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lý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54241" y="7152084"/>
            <a:ext cx="338256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013872" y="2882503"/>
            <a:ext cx="457200" cy="457200"/>
            <a:chOff x="0" y="0"/>
            <a:chExt cx="609600" cy="609600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9551194" y="3545681"/>
            <a:ext cx="338256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03. HUẤN LUYỆN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51194" y="4391750"/>
            <a:ext cx="3382566" cy="1298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6"/>
              </a:lnSpc>
            </a:pP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Đưa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đã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chuẩn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hóa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vào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xây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dựng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mô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hình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CatBoost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51194" y="7152084"/>
            <a:ext cx="338256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5182250" y="2882503"/>
            <a:ext cx="514350" cy="457200"/>
            <a:chOff x="0" y="0"/>
            <a:chExt cx="685800" cy="609600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0"/>
                  </a:moveTo>
                  <a:lnTo>
                    <a:pt x="685800" y="0"/>
                  </a:lnTo>
                  <a:lnTo>
                    <a:pt x="685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13683853" y="3580788"/>
            <a:ext cx="3511153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04. XÂY DỰNG WEBGIS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748147" y="4391750"/>
            <a:ext cx="3382566" cy="2205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6"/>
              </a:lnSpc>
            </a:pP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Xây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dựng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WebGIS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xây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dựng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API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để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WebGIS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gửi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yêu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cầu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dự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đoán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Trả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kết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quả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và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hiển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thị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trực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quan</a:t>
            </a:r>
            <a:endParaRPr lang="en-US" sz="2400" dirty="0">
              <a:solidFill>
                <a:srgbClr val="33333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3748147" y="7152084"/>
            <a:ext cx="338256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857250" y="8397478"/>
            <a:ext cx="16573500" cy="14288"/>
            <a:chOff x="0" y="0"/>
            <a:chExt cx="22098000" cy="190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2098000" cy="19050"/>
            </a:xfrm>
            <a:custGeom>
              <a:avLst/>
              <a:gdLst/>
              <a:ahLst/>
              <a:cxnLst/>
              <a:rect l="l" t="t" r="r" b="b"/>
              <a:pathLst>
                <a:path w="22098000" h="1905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4213D"/>
            </a:solid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2381421"/>
            <a:ext cx="285750" cy="285750"/>
            <a:chOff x="0" y="0"/>
            <a:chExt cx="381000" cy="381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500" b="-250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143000" y="4900688"/>
            <a:ext cx="357188" cy="285750"/>
            <a:chOff x="0" y="0"/>
            <a:chExt cx="476250" cy="3810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500" b="-250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143000" y="7370025"/>
            <a:ext cx="178594" cy="285750"/>
            <a:chOff x="0" y="0"/>
            <a:chExt cx="238125" cy="381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38125" cy="381000"/>
            </a:xfrm>
            <a:custGeom>
              <a:avLst/>
              <a:gdLst/>
              <a:ahLst/>
              <a:cxnLst/>
              <a:rect l="l" t="t" r="r" b="b"/>
              <a:pathLst>
                <a:path w="238125" h="381000">
                  <a:moveTo>
                    <a:pt x="0" y="0"/>
                  </a:moveTo>
                  <a:lnTo>
                    <a:pt x="238125" y="0"/>
                  </a:lnTo>
                  <a:lnTo>
                    <a:pt x="238125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0169937" y="5454196"/>
            <a:ext cx="7089363" cy="3269790"/>
          </a:xfrm>
          <a:custGeom>
            <a:avLst/>
            <a:gdLst/>
            <a:ahLst/>
            <a:cxnLst/>
            <a:rect l="l" t="t" r="r" b="b"/>
            <a:pathLst>
              <a:path w="7089363" h="3269790">
                <a:moveTo>
                  <a:pt x="0" y="0"/>
                </a:moveTo>
                <a:lnTo>
                  <a:pt x="7089363" y="0"/>
                </a:lnTo>
                <a:lnTo>
                  <a:pt x="7089363" y="3269790"/>
                </a:lnTo>
                <a:lnTo>
                  <a:pt x="0" y="32697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43388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135431" y="1683917"/>
            <a:ext cx="7158374" cy="3043305"/>
          </a:xfrm>
          <a:custGeom>
            <a:avLst/>
            <a:gdLst/>
            <a:ahLst/>
            <a:cxnLst/>
            <a:rect l="l" t="t" r="r" b="b"/>
            <a:pathLst>
              <a:path w="7158374" h="3043305">
                <a:moveTo>
                  <a:pt x="0" y="0"/>
                </a:moveTo>
                <a:lnTo>
                  <a:pt x="7158375" y="0"/>
                </a:lnTo>
                <a:lnTo>
                  <a:pt x="7158375" y="3043305"/>
                </a:lnTo>
                <a:lnTo>
                  <a:pt x="0" y="30433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55558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43000" y="2876721"/>
            <a:ext cx="7572375" cy="1373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Thu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thập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đường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giao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thông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ranh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giới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hành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chính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phường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/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quận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 Thu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thập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giá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đất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chứa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thông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tin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tên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đường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quận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huyện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và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giá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đất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69937" y="8809711"/>
            <a:ext cx="7089363" cy="1009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64"/>
              </a:lnSpc>
            </a:pPr>
            <a:r>
              <a:rPr lang="en-US" sz="18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Quyết định 79/2024/QĐ-UBND sửa đổi QĐ 02/2020/QĐ-UBND  quy định về bảng giá đất trên địa bàn Tp.HCM áp dụng tới hết 31/12/2025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35431" y="4827617"/>
            <a:ext cx="7123869" cy="68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64"/>
              </a:lnSpc>
            </a:pPr>
            <a:r>
              <a:rPr lang="en-US" sz="18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Quyết</a:t>
            </a:r>
            <a:r>
              <a:rPr lang="en-US" sz="18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định</a:t>
            </a:r>
            <a:r>
              <a:rPr lang="en-US" sz="18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số</a:t>
            </a:r>
            <a:r>
              <a:rPr lang="en-US" sz="18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51/2014/QĐ-UBND ban </a:t>
            </a:r>
            <a:r>
              <a:rPr lang="en-US" sz="18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hành</a:t>
            </a:r>
            <a:r>
              <a:rPr lang="en-US" sz="18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Quy </a:t>
            </a:r>
            <a:r>
              <a:rPr lang="en-US" sz="18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định</a:t>
            </a:r>
            <a:r>
              <a:rPr lang="en-US" sz="18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về</a:t>
            </a:r>
            <a:r>
              <a:rPr lang="en-US" sz="18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giá</a:t>
            </a:r>
            <a:r>
              <a:rPr lang="en-US" sz="18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</a:t>
            </a:r>
            <a:r>
              <a:rPr lang="en-US" sz="18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loại</a:t>
            </a:r>
            <a:r>
              <a:rPr lang="en-US" sz="18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đất</a:t>
            </a:r>
            <a:r>
              <a:rPr lang="en-US" sz="18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trên</a:t>
            </a:r>
            <a:r>
              <a:rPr lang="en-US" sz="18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địa</a:t>
            </a:r>
            <a:r>
              <a:rPr lang="en-US" sz="18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bàn</a:t>
            </a:r>
            <a:r>
              <a:rPr lang="en-US" sz="18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Tp.HCM</a:t>
            </a:r>
            <a:r>
              <a:rPr lang="en-US" sz="18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từ</a:t>
            </a:r>
            <a:r>
              <a:rPr lang="en-US" sz="18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2015-2019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136238" y="2136591"/>
            <a:ext cx="773829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1136238" y="4603109"/>
            <a:ext cx="773829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1136238" y="7122375"/>
            <a:ext cx="773829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1143000" y="828675"/>
            <a:ext cx="11206904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THU THẬP VÀ XỬ LÝ DỮ LIỆU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14500" y="4847148"/>
            <a:ext cx="5655359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CA311"/>
                </a:solidFill>
                <a:latin typeface="Arimo Bold"/>
                <a:ea typeface="Arimo Bold"/>
                <a:cs typeface="Arimo Bold"/>
                <a:sym typeface="Arimo Bold"/>
              </a:rPr>
              <a:t>LÀM SẠCH VÀ CHUẨN HÓA DỮ LIỆU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3000" y="5367413"/>
            <a:ext cx="7572375" cy="1373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Kiểm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và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loại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bỏ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bản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ghi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bị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thiếu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hoặc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sai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định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dạng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Chuẩn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hóa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tên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đường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quận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huyện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để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đảm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bảo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tính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đồng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nhất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giữa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nguồn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93931" y="2324271"/>
            <a:ext cx="12144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14500" y="2352846"/>
            <a:ext cx="3084583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CA311"/>
                </a:solidFill>
                <a:latin typeface="Arimo Bold"/>
                <a:ea typeface="Arimo Bold"/>
                <a:cs typeface="Arimo Bold"/>
                <a:sym typeface="Arimo Bold"/>
              </a:rPr>
              <a:t>THU THẬP DỮ LIỆU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93931" y="4814963"/>
            <a:ext cx="12144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14500" y="7341450"/>
            <a:ext cx="3263177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CA311"/>
                </a:solidFill>
                <a:latin typeface="Arimo Bold"/>
                <a:ea typeface="Arimo Bold"/>
                <a:cs typeface="Arimo Bold"/>
                <a:sym typeface="Arimo Bold"/>
              </a:rPr>
              <a:t>KẾT HỢP DỮ LIỆU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3000" y="7854848"/>
            <a:ext cx="7572375" cy="907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Kết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hợp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không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gian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với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giá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đất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thông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qua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thuộc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tính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như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tên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đường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93931" y="7322400"/>
            <a:ext cx="12144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89683" y="1902709"/>
            <a:ext cx="4467021" cy="5474529"/>
          </a:xfrm>
          <a:custGeom>
            <a:avLst/>
            <a:gdLst/>
            <a:ahLst/>
            <a:cxnLst/>
            <a:rect l="l" t="t" r="r" b="b"/>
            <a:pathLst>
              <a:path w="4467021" h="5474529">
                <a:moveTo>
                  <a:pt x="0" y="0"/>
                </a:moveTo>
                <a:lnTo>
                  <a:pt x="4467021" y="0"/>
                </a:lnTo>
                <a:lnTo>
                  <a:pt x="4467021" y="5474529"/>
                </a:lnTo>
                <a:lnTo>
                  <a:pt x="0" y="547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6604401" y="4666624"/>
            <a:ext cx="36994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6786657" y="4487574"/>
            <a:ext cx="0" cy="3699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2336071" y="4649499"/>
            <a:ext cx="4530899" cy="3964737"/>
          </a:xfrm>
          <a:custGeom>
            <a:avLst/>
            <a:gdLst/>
            <a:ahLst/>
            <a:cxnLst/>
            <a:rect l="l" t="t" r="r" b="b"/>
            <a:pathLst>
              <a:path w="4530899" h="3964737">
                <a:moveTo>
                  <a:pt x="0" y="0"/>
                </a:moveTo>
                <a:lnTo>
                  <a:pt x="4302299" y="0"/>
                </a:lnTo>
                <a:cubicBezTo>
                  <a:pt x="4428552" y="0"/>
                  <a:pt x="4530899" y="102347"/>
                  <a:pt x="4530899" y="228600"/>
                </a:cubicBezTo>
                <a:lnTo>
                  <a:pt x="4530899" y="3736137"/>
                </a:lnTo>
                <a:cubicBezTo>
                  <a:pt x="4530899" y="3862389"/>
                  <a:pt x="4428552" y="3964737"/>
                  <a:pt x="4302299" y="3964737"/>
                </a:cubicBezTo>
                <a:lnTo>
                  <a:pt x="2160672" y="3964737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6" name="Freeform 6"/>
          <p:cNvSpPr/>
          <p:nvPr/>
        </p:nvSpPr>
        <p:spPr>
          <a:xfrm>
            <a:off x="1014824" y="1912234"/>
            <a:ext cx="5274241" cy="5474529"/>
          </a:xfrm>
          <a:custGeom>
            <a:avLst/>
            <a:gdLst/>
            <a:ahLst/>
            <a:cxnLst/>
            <a:rect l="l" t="t" r="r" b="b"/>
            <a:pathLst>
              <a:path w="5274241" h="5474529">
                <a:moveTo>
                  <a:pt x="0" y="0"/>
                </a:moveTo>
                <a:lnTo>
                  <a:pt x="5274241" y="0"/>
                </a:lnTo>
                <a:lnTo>
                  <a:pt x="5274241" y="5474529"/>
                </a:lnTo>
                <a:lnTo>
                  <a:pt x="0" y="5474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14824" y="7672513"/>
            <a:ext cx="13218751" cy="1663208"/>
          </a:xfrm>
          <a:custGeom>
            <a:avLst/>
            <a:gdLst/>
            <a:ahLst/>
            <a:cxnLst/>
            <a:rect l="l" t="t" r="r" b="b"/>
            <a:pathLst>
              <a:path w="13218751" h="1663208">
                <a:moveTo>
                  <a:pt x="0" y="0"/>
                </a:moveTo>
                <a:lnTo>
                  <a:pt x="13218751" y="0"/>
                </a:lnTo>
                <a:lnTo>
                  <a:pt x="13218751" y="1663208"/>
                </a:lnTo>
                <a:lnTo>
                  <a:pt x="0" y="16632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5747" r="-9140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14824" y="828675"/>
            <a:ext cx="11206904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KẾT HỢP DỮ LIỆU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36071" y="1883659"/>
            <a:ext cx="4412755" cy="2307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Thực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hiện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phép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nối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(Join)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giữa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giá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đất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và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không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gian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dựa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trên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thuộc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tính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TenDuong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nhằm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tạo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bộ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tích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hợp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808733"/>
            <a:ext cx="773829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748852" y="2155476"/>
            <a:ext cx="2984143" cy="6382751"/>
          </a:xfrm>
          <a:custGeom>
            <a:avLst/>
            <a:gdLst/>
            <a:ahLst/>
            <a:cxnLst/>
            <a:rect l="l" t="t" r="r" b="b"/>
            <a:pathLst>
              <a:path w="2984143" h="6382751">
                <a:moveTo>
                  <a:pt x="0" y="0"/>
                </a:moveTo>
                <a:lnTo>
                  <a:pt x="2984143" y="0"/>
                </a:lnTo>
                <a:lnTo>
                  <a:pt x="2984143" y="6382751"/>
                </a:lnTo>
                <a:lnTo>
                  <a:pt x="0" y="6382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158792" y="2155476"/>
            <a:ext cx="6499454" cy="6382751"/>
          </a:xfrm>
          <a:custGeom>
            <a:avLst/>
            <a:gdLst/>
            <a:ahLst/>
            <a:cxnLst/>
            <a:rect l="l" t="t" r="r" b="b"/>
            <a:pathLst>
              <a:path w="6499454" h="6382751">
                <a:moveTo>
                  <a:pt x="0" y="0"/>
                </a:moveTo>
                <a:lnTo>
                  <a:pt x="6499454" y="0"/>
                </a:lnTo>
                <a:lnTo>
                  <a:pt x="6499454" y="6382751"/>
                </a:lnTo>
                <a:lnTo>
                  <a:pt x="0" y="63827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942975"/>
            <a:ext cx="16230600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XÁC ĐỊNH CÁC ĐẶC TRƯNG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96603" y="2227833"/>
            <a:ext cx="4305281" cy="44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Đặc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trưng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vị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trí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: X, 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96603" y="2865627"/>
            <a:ext cx="4305281" cy="907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Đặc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trưng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hành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chính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: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Tên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đường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Phường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Quận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huyện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6603" y="3972889"/>
            <a:ext cx="4305281" cy="1373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Đặc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trưng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tổng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hợp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: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khóa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kết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hợp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từ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tên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đường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và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đơn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vị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hành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chính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48852" y="8709636"/>
            <a:ext cx="9909394" cy="362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2"/>
              </a:lnSpc>
            </a:pPr>
            <a:r>
              <a:rPr lang="en-US" sz="2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https://github.com/Fish6245/WebGIS_OpenGIS_y3HK2.git</a:t>
            </a:r>
          </a:p>
        </p:txBody>
      </p:sp>
      <p:sp>
        <p:nvSpPr>
          <p:cNvPr id="10" name="TextBox 10"/>
          <p:cNvSpPr txBox="1"/>
          <p:nvPr/>
        </p:nvSpPr>
        <p:spPr>
          <a:xfrm rot="-10800000">
            <a:off x="1000125" y="2344495"/>
            <a:ext cx="16073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  <p:sp>
        <p:nvSpPr>
          <p:cNvPr id="11" name="TextBox 11"/>
          <p:cNvSpPr txBox="1"/>
          <p:nvPr/>
        </p:nvSpPr>
        <p:spPr>
          <a:xfrm rot="-10800000">
            <a:off x="1000125" y="3176370"/>
            <a:ext cx="16073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  <p:sp>
        <p:nvSpPr>
          <p:cNvPr id="12" name="TextBox 12"/>
          <p:cNvSpPr txBox="1"/>
          <p:nvPr/>
        </p:nvSpPr>
        <p:spPr>
          <a:xfrm rot="-10800000">
            <a:off x="1000125" y="4440795"/>
            <a:ext cx="16073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9175" y="2198438"/>
            <a:ext cx="0" cy="1338243"/>
          </a:xfrm>
          <a:prstGeom prst="line">
            <a:avLst/>
          </a:prstGeom>
          <a:ln w="38100" cap="flat">
            <a:solidFill>
              <a:srgbClr val="FCA31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019175" y="3926386"/>
            <a:ext cx="0" cy="1309668"/>
          </a:xfrm>
          <a:prstGeom prst="line">
            <a:avLst/>
          </a:prstGeom>
          <a:ln w="38100" cap="flat">
            <a:solidFill>
              <a:srgbClr val="FCA31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02595" y="5683729"/>
            <a:ext cx="0" cy="905088"/>
          </a:xfrm>
          <a:prstGeom prst="line">
            <a:avLst/>
          </a:prstGeom>
          <a:ln w="38100" cap="flat">
            <a:solidFill>
              <a:srgbClr val="FCA31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09650" y="7169842"/>
            <a:ext cx="0" cy="1290618"/>
          </a:xfrm>
          <a:prstGeom prst="line">
            <a:avLst/>
          </a:prstGeom>
          <a:ln w="38100" cap="flat">
            <a:solidFill>
              <a:srgbClr val="FCA31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9835955" y="4078786"/>
            <a:ext cx="8147194" cy="1099871"/>
          </a:xfrm>
          <a:custGeom>
            <a:avLst/>
            <a:gdLst/>
            <a:ahLst/>
            <a:cxnLst/>
            <a:rect l="l" t="t" r="r" b="b"/>
            <a:pathLst>
              <a:path w="8147194" h="1099871">
                <a:moveTo>
                  <a:pt x="0" y="0"/>
                </a:moveTo>
                <a:lnTo>
                  <a:pt x="8147194" y="0"/>
                </a:lnTo>
                <a:lnTo>
                  <a:pt x="8147194" y="1099871"/>
                </a:lnTo>
                <a:lnTo>
                  <a:pt x="0" y="10998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816905" y="2198438"/>
            <a:ext cx="2950572" cy="500543"/>
          </a:xfrm>
          <a:custGeom>
            <a:avLst/>
            <a:gdLst/>
            <a:ahLst/>
            <a:cxnLst/>
            <a:rect l="l" t="t" r="r" b="b"/>
            <a:pathLst>
              <a:path w="2950572" h="500543">
                <a:moveTo>
                  <a:pt x="0" y="0"/>
                </a:moveTo>
                <a:lnTo>
                  <a:pt x="2950571" y="0"/>
                </a:lnTo>
                <a:lnTo>
                  <a:pt x="2950571" y="500543"/>
                </a:lnTo>
                <a:lnTo>
                  <a:pt x="0" y="5005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808881" y="2820404"/>
            <a:ext cx="8174268" cy="636820"/>
          </a:xfrm>
          <a:custGeom>
            <a:avLst/>
            <a:gdLst/>
            <a:ahLst/>
            <a:cxnLst/>
            <a:rect l="l" t="t" r="r" b="b"/>
            <a:pathLst>
              <a:path w="8174268" h="636820">
                <a:moveTo>
                  <a:pt x="0" y="0"/>
                </a:moveTo>
                <a:lnTo>
                  <a:pt x="8174268" y="0"/>
                </a:lnTo>
                <a:lnTo>
                  <a:pt x="8174268" y="636820"/>
                </a:lnTo>
                <a:lnTo>
                  <a:pt x="0" y="636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1028700" y="1808733"/>
            <a:ext cx="773829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9816905" y="7274831"/>
            <a:ext cx="8139170" cy="660804"/>
          </a:xfrm>
          <a:custGeom>
            <a:avLst/>
            <a:gdLst/>
            <a:ahLst/>
            <a:cxnLst/>
            <a:rect l="l" t="t" r="r" b="b"/>
            <a:pathLst>
              <a:path w="8139170" h="660804">
                <a:moveTo>
                  <a:pt x="0" y="0"/>
                </a:moveTo>
                <a:lnTo>
                  <a:pt x="8139170" y="0"/>
                </a:lnTo>
                <a:lnTo>
                  <a:pt x="8139170" y="660804"/>
                </a:lnTo>
                <a:lnTo>
                  <a:pt x="0" y="660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789831" y="5683729"/>
            <a:ext cx="8166244" cy="1086277"/>
          </a:xfrm>
          <a:custGeom>
            <a:avLst/>
            <a:gdLst/>
            <a:ahLst/>
            <a:cxnLst/>
            <a:rect l="l" t="t" r="r" b="b"/>
            <a:pathLst>
              <a:path w="8166244" h="1086277">
                <a:moveTo>
                  <a:pt x="0" y="0"/>
                </a:moveTo>
                <a:lnTo>
                  <a:pt x="8166244" y="0"/>
                </a:lnTo>
                <a:lnTo>
                  <a:pt x="8166244" y="1086277"/>
                </a:lnTo>
                <a:lnTo>
                  <a:pt x="0" y="10862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43000" y="828675"/>
            <a:ext cx="12739478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HUẤN LUYỆN &amp; KIỂM ĐỊNH MÔ HÌNH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85900" y="2188913"/>
            <a:ext cx="7455253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CHIA TẬP DỮ LIỆU ĐỂ HUẤN LUYỆN VÀ KIỂM TRA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85900" y="2629444"/>
            <a:ext cx="8067801" cy="907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Chia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thành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tập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huấn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luyện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và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tập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kiểm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(20%)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theo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cụm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không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gian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(60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cụm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).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85900" y="3888286"/>
            <a:ext cx="7229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HUẤN LUYỆN MÔ HÌNH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85900" y="4328817"/>
            <a:ext cx="8067801" cy="907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Huấn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luyện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mô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hình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dự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đoán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giá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đất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bằng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CatBoost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Regressor.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85900" y="6092113"/>
            <a:ext cx="8067801" cy="44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2400" dirty="0" err="1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Đánh</a:t>
            </a:r>
            <a:r>
              <a:rPr lang="en-US" sz="240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giá</a:t>
            </a:r>
            <a:r>
              <a:rPr lang="en-US" sz="240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sơ</a:t>
            </a:r>
            <a:r>
              <a:rPr lang="en-US" sz="240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lược</a:t>
            </a:r>
            <a:r>
              <a:rPr lang="en-US" sz="240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mô</a:t>
            </a:r>
            <a:r>
              <a:rPr lang="en-US" sz="240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hình</a:t>
            </a:r>
            <a:r>
              <a:rPr lang="en-US" sz="240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thông</a:t>
            </a:r>
            <a:r>
              <a:rPr lang="en-US" sz="240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qua </a:t>
            </a:r>
            <a:r>
              <a:rPr lang="en-US" sz="2400" dirty="0" err="1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một</a:t>
            </a:r>
            <a:r>
              <a:rPr lang="en-US" sz="240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số</a:t>
            </a:r>
            <a:r>
              <a:rPr lang="en-US" sz="240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chỉ</a:t>
            </a:r>
            <a:r>
              <a:rPr lang="en-US" sz="240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số</a:t>
            </a:r>
            <a:endParaRPr lang="en-US" sz="2400" dirty="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76375" y="5674204"/>
            <a:ext cx="7229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ĐÁNH GIÁ TỔNG QUÁT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85900" y="7160317"/>
            <a:ext cx="7229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LƯU MÔ HÌNH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85900" y="7553224"/>
            <a:ext cx="8067801" cy="907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Lưu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mô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hình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và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phân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tích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mức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độ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ảnh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hưởng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của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đặc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trưng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35955" y="8393786"/>
            <a:ext cx="8120120" cy="362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2"/>
              </a:lnSpc>
            </a:pPr>
            <a:r>
              <a:rPr lang="en-US" sz="2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https://github.com/Fish6245/WebGIS_OpenGIS_y3HK2.git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808733"/>
            <a:ext cx="773829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1794385" y="2260323"/>
            <a:ext cx="5464915" cy="6997977"/>
          </a:xfrm>
          <a:custGeom>
            <a:avLst/>
            <a:gdLst/>
            <a:ahLst/>
            <a:cxnLst/>
            <a:rect l="l" t="t" r="r" b="b"/>
            <a:pathLst>
              <a:path w="5464915" h="6997977">
                <a:moveTo>
                  <a:pt x="0" y="0"/>
                </a:moveTo>
                <a:lnTo>
                  <a:pt x="5464915" y="0"/>
                </a:lnTo>
                <a:lnTo>
                  <a:pt x="5464915" y="6997977"/>
                </a:lnTo>
                <a:lnTo>
                  <a:pt x="0" y="6997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548064"/>
              </p:ext>
            </p:extLst>
          </p:nvPr>
        </p:nvGraphicFramePr>
        <p:xfrm>
          <a:off x="1028700" y="2275978"/>
          <a:ext cx="10096500" cy="6416607"/>
        </p:xfrm>
        <a:graphic>
          <a:graphicData uri="http://schemas.openxmlformats.org/drawingml/2006/table">
            <a:tbl>
              <a:tblPr/>
              <a:tblGrid>
                <a:gridCol w="246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7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7310">
                  <a:extLst>
                    <a:ext uri="{9D8B030D-6E8A-4147-A177-3AD203B41FA5}">
                      <a16:colId xmlns:a16="http://schemas.microsoft.com/office/drawing/2014/main" val="171963946"/>
                    </a:ext>
                  </a:extLst>
                </a:gridCol>
              </a:tblGrid>
              <a:tr h="1101819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Chỉ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số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Giá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trị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Ý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nghĩa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702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Lookup Hit Rate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94.14%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Tỷ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lệ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dữ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liệu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tra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cứu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(lookup)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thành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công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.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702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R²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0.5353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Mô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hình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giải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thích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được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khoảng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53.53%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biến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động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giá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đất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702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RMSE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8,109.64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Sai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số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dự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đoán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trung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bình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khoảng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8,110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đơn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vị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giá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748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MAE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5,489.71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Sai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lệch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tuyệt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đối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trung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bình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khoảng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5,490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đơn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vị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giá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1028700" y="694308"/>
            <a:ext cx="12739478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HUẤN LUYỆN &amp; KIỂM ĐỊNH MÔ HÌNH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4423" y="-245898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4141053" y="1982391"/>
            <a:ext cx="1846659" cy="292894"/>
            <a:chOff x="0" y="0"/>
            <a:chExt cx="2462212" cy="3905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2276" cy="390525"/>
            </a:xfrm>
            <a:custGeom>
              <a:avLst/>
              <a:gdLst/>
              <a:ahLst/>
              <a:cxnLst/>
              <a:rect l="l" t="t" r="r" b="b"/>
              <a:pathLst>
                <a:path w="2462276" h="390525">
                  <a:moveTo>
                    <a:pt x="0" y="0"/>
                  </a:moveTo>
                  <a:lnTo>
                    <a:pt x="2462276" y="0"/>
                  </a:lnTo>
                  <a:lnTo>
                    <a:pt x="2462276" y="390525"/>
                  </a:lnTo>
                  <a:lnTo>
                    <a:pt x="0" y="39052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014538" y="1879368"/>
            <a:ext cx="3571875" cy="1971675"/>
            <a:chOff x="0" y="0"/>
            <a:chExt cx="4762500" cy="2628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62500" cy="2628900"/>
            </a:xfrm>
            <a:custGeom>
              <a:avLst/>
              <a:gdLst/>
              <a:ahLst/>
              <a:cxnLst/>
              <a:rect l="l" t="t" r="r" b="b"/>
              <a:pathLst>
                <a:path w="4762500" h="2628900">
                  <a:moveTo>
                    <a:pt x="0" y="0"/>
                  </a:moveTo>
                  <a:lnTo>
                    <a:pt x="4762500" y="0"/>
                  </a:lnTo>
                  <a:lnTo>
                    <a:pt x="4762500" y="2628900"/>
                  </a:lnTo>
                  <a:lnTo>
                    <a:pt x="0" y="2628900"/>
                  </a:lnTo>
                  <a:close/>
                </a:path>
              </a:pathLst>
            </a:custGeom>
            <a:solidFill>
              <a:srgbClr val="14213D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014538" y="1879368"/>
            <a:ext cx="3571875" cy="1971676"/>
            <a:chOff x="0" y="0"/>
            <a:chExt cx="4762500" cy="262890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62501" cy="2628903"/>
            </a:xfrm>
            <a:custGeom>
              <a:avLst/>
              <a:gdLst/>
              <a:ahLst/>
              <a:cxnLst/>
              <a:rect l="l" t="t" r="r" b="b"/>
              <a:pathLst>
                <a:path w="4762501" h="2628903">
                  <a:moveTo>
                    <a:pt x="0" y="0"/>
                  </a:moveTo>
                  <a:lnTo>
                    <a:pt x="4762501" y="0"/>
                  </a:lnTo>
                  <a:lnTo>
                    <a:pt x="4762501" y="2628903"/>
                  </a:lnTo>
                  <a:lnTo>
                    <a:pt x="0" y="26289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823" r="-2082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4762500" cy="26384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TẦNG TRÌNH DIỄN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24839" y="2415149"/>
            <a:ext cx="321469" cy="428625"/>
            <a:chOff x="0" y="0"/>
            <a:chExt cx="428625" cy="571500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428625" cy="571500"/>
            </a:xfrm>
            <a:custGeom>
              <a:avLst/>
              <a:gdLst/>
              <a:ahLst/>
              <a:cxnLst/>
              <a:rect l="l" t="t" r="r" b="b"/>
              <a:pathLst>
                <a:path w="428625" h="571500">
                  <a:moveTo>
                    <a:pt x="0" y="0"/>
                  </a:moveTo>
                  <a:lnTo>
                    <a:pt x="428625" y="0"/>
                  </a:lnTo>
                  <a:lnTo>
                    <a:pt x="428625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833" b="-833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2657282" y="2415149"/>
            <a:ext cx="482203" cy="428625"/>
            <a:chOff x="0" y="0"/>
            <a:chExt cx="642938" cy="57150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643001" cy="571500"/>
            </a:xfrm>
            <a:custGeom>
              <a:avLst/>
              <a:gdLst/>
              <a:ahLst/>
              <a:cxnLst/>
              <a:rect l="l" t="t" r="r" b="b"/>
              <a:pathLst>
                <a:path w="643001" h="571500">
                  <a:moveTo>
                    <a:pt x="0" y="0"/>
                  </a:moveTo>
                  <a:lnTo>
                    <a:pt x="643001" y="0"/>
                  </a:lnTo>
                  <a:lnTo>
                    <a:pt x="643001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86" r="9" b="-1286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0965069" y="4144222"/>
            <a:ext cx="171450" cy="342900"/>
            <a:chOff x="0" y="0"/>
            <a:chExt cx="228600" cy="457200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0" y="0"/>
                  </a:moveTo>
                  <a:lnTo>
                    <a:pt x="228600" y="0"/>
                  </a:lnTo>
                  <a:lnTo>
                    <a:pt x="2286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083" b="-2083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4062472" y="4736868"/>
            <a:ext cx="1925241" cy="292894"/>
            <a:chOff x="0" y="0"/>
            <a:chExt cx="2566988" cy="39052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566924" cy="390525"/>
            </a:xfrm>
            <a:custGeom>
              <a:avLst/>
              <a:gdLst/>
              <a:ahLst/>
              <a:cxnLst/>
              <a:rect l="l" t="t" r="r" b="b"/>
              <a:pathLst>
                <a:path w="2566924" h="390525">
                  <a:moveTo>
                    <a:pt x="0" y="0"/>
                  </a:moveTo>
                  <a:lnTo>
                    <a:pt x="2566924" y="0"/>
                  </a:lnTo>
                  <a:lnTo>
                    <a:pt x="2566924" y="390525"/>
                  </a:lnTo>
                  <a:lnTo>
                    <a:pt x="0" y="39052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2014538" y="4879743"/>
            <a:ext cx="3571875" cy="1971675"/>
            <a:chOff x="0" y="0"/>
            <a:chExt cx="4762500" cy="26289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762500" cy="2628900"/>
            </a:xfrm>
            <a:custGeom>
              <a:avLst/>
              <a:gdLst/>
              <a:ahLst/>
              <a:cxnLst/>
              <a:rect l="l" t="t" r="r" b="b"/>
              <a:pathLst>
                <a:path w="4762500" h="2628900">
                  <a:moveTo>
                    <a:pt x="0" y="0"/>
                  </a:moveTo>
                  <a:lnTo>
                    <a:pt x="4762500" y="0"/>
                  </a:lnTo>
                  <a:lnTo>
                    <a:pt x="4762500" y="2628900"/>
                  </a:lnTo>
                  <a:lnTo>
                    <a:pt x="0" y="2628900"/>
                  </a:lnTo>
                  <a:close/>
                </a:path>
              </a:pathLst>
            </a:custGeom>
            <a:solidFill>
              <a:srgbClr val="14213D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2014538" y="4879743"/>
            <a:ext cx="3571875" cy="1971676"/>
            <a:chOff x="0" y="0"/>
            <a:chExt cx="4762500" cy="262890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762501" cy="2628903"/>
            </a:xfrm>
            <a:custGeom>
              <a:avLst/>
              <a:gdLst/>
              <a:ahLst/>
              <a:cxnLst/>
              <a:rect l="l" t="t" r="r" b="b"/>
              <a:pathLst>
                <a:path w="4762501" h="2628903">
                  <a:moveTo>
                    <a:pt x="0" y="0"/>
                  </a:moveTo>
                  <a:lnTo>
                    <a:pt x="4762501" y="0"/>
                  </a:lnTo>
                  <a:lnTo>
                    <a:pt x="4762501" y="2628903"/>
                  </a:lnTo>
                  <a:lnTo>
                    <a:pt x="0" y="26289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823" r="-20823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4762500" cy="26384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TẦNG XỬ LÝ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975163" y="5372645"/>
            <a:ext cx="375047" cy="428625"/>
            <a:chOff x="0" y="0"/>
            <a:chExt cx="500062" cy="571500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499999" cy="571500"/>
            </a:xfrm>
            <a:custGeom>
              <a:avLst/>
              <a:gdLst/>
              <a:ahLst/>
              <a:cxnLst/>
              <a:rect l="l" t="t" r="r" b="b"/>
              <a:pathLst>
                <a:path w="499999" h="571500">
                  <a:moveTo>
                    <a:pt x="0" y="0"/>
                  </a:moveTo>
                  <a:lnTo>
                    <a:pt x="499999" y="0"/>
                  </a:lnTo>
                  <a:lnTo>
                    <a:pt x="499999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330" r="-1346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7855546" y="5379806"/>
            <a:ext cx="428625" cy="428625"/>
            <a:chOff x="0" y="0"/>
            <a:chExt cx="571500" cy="571500"/>
          </a:xfrm>
        </p:grpSpPr>
        <p:sp>
          <p:nvSpPr>
            <p:cNvPr id="27" name="Freeform 27" descr="preencoded.png"/>
            <p:cNvSpPr/>
            <p:nvPr/>
          </p:nvSpPr>
          <p:spPr>
            <a:xfrm>
              <a:off x="0" y="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4136680" y="8514688"/>
            <a:ext cx="428625" cy="428625"/>
            <a:chOff x="0" y="0"/>
            <a:chExt cx="571500" cy="571500"/>
          </a:xfrm>
        </p:grpSpPr>
        <p:sp>
          <p:nvSpPr>
            <p:cNvPr id="29" name="Freeform 29" descr="preencoded.png"/>
            <p:cNvSpPr/>
            <p:nvPr/>
          </p:nvSpPr>
          <p:spPr>
            <a:xfrm>
              <a:off x="0" y="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11040079" y="7257992"/>
            <a:ext cx="171450" cy="342900"/>
            <a:chOff x="0" y="0"/>
            <a:chExt cx="228600" cy="457200"/>
          </a:xfrm>
        </p:grpSpPr>
        <p:sp>
          <p:nvSpPr>
            <p:cNvPr id="31" name="Freeform 31" descr="preencoded.png"/>
            <p:cNvSpPr/>
            <p:nvPr/>
          </p:nvSpPr>
          <p:spPr>
            <a:xfrm>
              <a:off x="0" y="0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0" y="0"/>
                  </a:moveTo>
                  <a:lnTo>
                    <a:pt x="228600" y="0"/>
                  </a:lnTo>
                  <a:lnTo>
                    <a:pt x="2286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083" b="-2083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14441091" y="7737243"/>
            <a:ext cx="1546622" cy="292894"/>
            <a:chOff x="0" y="0"/>
            <a:chExt cx="2062162" cy="39052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062226" cy="390525"/>
            </a:xfrm>
            <a:custGeom>
              <a:avLst/>
              <a:gdLst/>
              <a:ahLst/>
              <a:cxnLst/>
              <a:rect l="l" t="t" r="r" b="b"/>
              <a:pathLst>
                <a:path w="2062226" h="390525">
                  <a:moveTo>
                    <a:pt x="0" y="0"/>
                  </a:moveTo>
                  <a:lnTo>
                    <a:pt x="2062226" y="0"/>
                  </a:lnTo>
                  <a:lnTo>
                    <a:pt x="2062226" y="390525"/>
                  </a:lnTo>
                  <a:lnTo>
                    <a:pt x="0" y="39052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2014538" y="7880118"/>
            <a:ext cx="3571875" cy="1971675"/>
            <a:chOff x="0" y="0"/>
            <a:chExt cx="4762500" cy="26289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762500" cy="2628900"/>
            </a:xfrm>
            <a:custGeom>
              <a:avLst/>
              <a:gdLst/>
              <a:ahLst/>
              <a:cxnLst/>
              <a:rect l="l" t="t" r="r" b="b"/>
              <a:pathLst>
                <a:path w="4762500" h="2628900">
                  <a:moveTo>
                    <a:pt x="0" y="0"/>
                  </a:moveTo>
                  <a:lnTo>
                    <a:pt x="4762500" y="0"/>
                  </a:lnTo>
                  <a:lnTo>
                    <a:pt x="4762500" y="2628900"/>
                  </a:lnTo>
                  <a:lnTo>
                    <a:pt x="0" y="2628900"/>
                  </a:lnTo>
                  <a:close/>
                </a:path>
              </a:pathLst>
            </a:custGeom>
            <a:solidFill>
              <a:srgbClr val="14213D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2014538" y="7880118"/>
            <a:ext cx="3571875" cy="1971676"/>
            <a:chOff x="0" y="0"/>
            <a:chExt cx="4762500" cy="262890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762501" cy="2628903"/>
            </a:xfrm>
            <a:custGeom>
              <a:avLst/>
              <a:gdLst/>
              <a:ahLst/>
              <a:cxnLst/>
              <a:rect l="l" t="t" r="r" b="b"/>
              <a:pathLst>
                <a:path w="4762501" h="2628903">
                  <a:moveTo>
                    <a:pt x="0" y="0"/>
                  </a:moveTo>
                  <a:lnTo>
                    <a:pt x="4762501" y="0"/>
                  </a:lnTo>
                  <a:lnTo>
                    <a:pt x="4762501" y="2628903"/>
                  </a:lnTo>
                  <a:lnTo>
                    <a:pt x="0" y="26289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823" r="-20823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4762500" cy="26384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TẦNG DỮ LIỆU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965069" y="8514688"/>
            <a:ext cx="321469" cy="428625"/>
            <a:chOff x="0" y="0"/>
            <a:chExt cx="428625" cy="571500"/>
          </a:xfrm>
        </p:grpSpPr>
        <p:sp>
          <p:nvSpPr>
            <p:cNvPr id="40" name="Freeform 40" descr="preencoded.png"/>
            <p:cNvSpPr/>
            <p:nvPr/>
          </p:nvSpPr>
          <p:spPr>
            <a:xfrm>
              <a:off x="0" y="0"/>
              <a:ext cx="428625" cy="571500"/>
            </a:xfrm>
            <a:custGeom>
              <a:avLst/>
              <a:gdLst/>
              <a:ahLst/>
              <a:cxnLst/>
              <a:rect l="l" t="t" r="r" b="b"/>
              <a:pathLst>
                <a:path w="428625" h="571500">
                  <a:moveTo>
                    <a:pt x="0" y="0"/>
                  </a:moveTo>
                  <a:lnTo>
                    <a:pt x="428625" y="0"/>
                  </a:lnTo>
                  <a:lnTo>
                    <a:pt x="428625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833" b="-833"/>
              </a:stretch>
            </a:blipFill>
          </p:spPr>
        </p:sp>
      </p:grpSp>
      <p:sp>
        <p:nvSpPr>
          <p:cNvPr id="41" name="TextBox 41"/>
          <p:cNvSpPr txBox="1"/>
          <p:nvPr/>
        </p:nvSpPr>
        <p:spPr>
          <a:xfrm>
            <a:off x="1143000" y="828675"/>
            <a:ext cx="15178586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XÂY DỰNG HỆ THỐNG WEBGIS 3 TẦNG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807170" y="1472174"/>
            <a:ext cx="2255648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[ CLIENT SIDE ]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351515" y="2974743"/>
            <a:ext cx="206811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HTML/CSS/JS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396947" y="2974743"/>
            <a:ext cx="107310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Leaflet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807170" y="4477312"/>
            <a:ext cx="251441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[ SERVER SIDE ]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669383" y="5972720"/>
            <a:ext cx="328971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FastAPI Model Service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277512" y="5972720"/>
            <a:ext cx="1696583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GIS Service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412908" y="5979881"/>
            <a:ext cx="1383919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PHP API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822510" y="9076663"/>
            <a:ext cx="316520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Mô hình đã huấn luyện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4338591" y="7475289"/>
            <a:ext cx="1968481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dirty="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[ STORAGE ]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609007" y="9067138"/>
            <a:ext cx="1033594" cy="371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Giá đất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7917344" y="8514688"/>
            <a:ext cx="375047" cy="428625"/>
            <a:chOff x="0" y="0"/>
            <a:chExt cx="500062" cy="571500"/>
          </a:xfrm>
        </p:grpSpPr>
        <p:sp>
          <p:nvSpPr>
            <p:cNvPr id="53" name="Freeform 53" descr="preencoded.png"/>
            <p:cNvSpPr/>
            <p:nvPr/>
          </p:nvSpPr>
          <p:spPr>
            <a:xfrm>
              <a:off x="0" y="0"/>
              <a:ext cx="499999" cy="571500"/>
            </a:xfrm>
            <a:custGeom>
              <a:avLst/>
              <a:gdLst/>
              <a:ahLst/>
              <a:cxnLst/>
              <a:rect l="l" t="t" r="r" b="b"/>
              <a:pathLst>
                <a:path w="499999" h="571500">
                  <a:moveTo>
                    <a:pt x="0" y="0"/>
                  </a:moveTo>
                  <a:lnTo>
                    <a:pt x="499999" y="0"/>
                  </a:lnTo>
                  <a:lnTo>
                    <a:pt x="499999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353" r="-12" b="-353"/>
              </a:stretch>
            </a:blipFill>
          </p:spPr>
        </p:sp>
      </p:grpSp>
      <p:sp>
        <p:nvSpPr>
          <p:cNvPr id="54" name="TextBox 54"/>
          <p:cNvSpPr txBox="1"/>
          <p:nvPr/>
        </p:nvSpPr>
        <p:spPr>
          <a:xfrm>
            <a:off x="6696908" y="9083840"/>
            <a:ext cx="2867087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Geojson hành chính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10906001" y="5335754"/>
            <a:ext cx="439605" cy="502406"/>
            <a:chOff x="0" y="0"/>
            <a:chExt cx="333375" cy="381000"/>
          </a:xfrm>
        </p:grpSpPr>
        <p:sp>
          <p:nvSpPr>
            <p:cNvPr id="56" name="Freeform 56" descr="preencoded.png"/>
            <p:cNvSpPr/>
            <p:nvPr/>
          </p:nvSpPr>
          <p:spPr>
            <a:xfrm>
              <a:off x="0" y="0"/>
              <a:ext cx="333375" cy="381000"/>
            </a:xfrm>
            <a:custGeom>
              <a:avLst/>
              <a:gdLst/>
              <a:ahLst/>
              <a:cxnLst/>
              <a:rect l="l" t="t" r="r" b="b"/>
              <a:pathLst>
                <a:path w="333375" h="381000">
                  <a:moveTo>
                    <a:pt x="0" y="0"/>
                  </a:moveTo>
                  <a:lnTo>
                    <a:pt x="333375" y="0"/>
                  </a:lnTo>
                  <a:lnTo>
                    <a:pt x="333375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1250" b="-125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212497"/>
            <a:ext cx="16115181" cy="8805056"/>
            <a:chOff x="0" y="0"/>
            <a:chExt cx="19198390" cy="104896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98389" cy="10489667"/>
            </a:xfrm>
            <a:custGeom>
              <a:avLst/>
              <a:gdLst/>
              <a:ahLst/>
              <a:cxnLst/>
              <a:rect l="l" t="t" r="r" b="b"/>
              <a:pathLst>
                <a:path w="19198389" h="10489667">
                  <a:moveTo>
                    <a:pt x="0" y="0"/>
                  </a:moveTo>
                  <a:lnTo>
                    <a:pt x="19198389" y="0"/>
                  </a:lnTo>
                  <a:lnTo>
                    <a:pt x="19198389" y="10489667"/>
                  </a:lnTo>
                  <a:lnTo>
                    <a:pt x="0" y="10489667"/>
                  </a:lnTo>
                  <a:close/>
                </a:path>
              </a:pathLst>
            </a:custGeom>
            <a:blipFill>
              <a:blip r:embed="rId2"/>
              <a:stretch>
                <a:fillRect l="-21585" t="-13210"/>
              </a:stretch>
            </a:blipFill>
            <a:ln w="18288" cap="sq">
              <a:solidFill>
                <a:srgbClr val="14213D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522675" y="355247"/>
            <a:ext cx="6443662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GIAO DIỆN WEBGIS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312003"/>
            <a:chOff x="0" y="0"/>
            <a:chExt cx="24384000" cy="13749338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49401"/>
            </a:xfrm>
            <a:custGeom>
              <a:avLst/>
              <a:gdLst/>
              <a:ahLst/>
              <a:cxnLst/>
              <a:rect l="l" t="t" r="r" b="b"/>
              <a:pathLst>
                <a:path w="24384000" h="13749401">
                  <a:moveTo>
                    <a:pt x="0" y="0"/>
                  </a:moveTo>
                  <a:lnTo>
                    <a:pt x="24384000" y="0"/>
                  </a:lnTo>
                  <a:lnTo>
                    <a:pt x="24384000" y="13749401"/>
                  </a:lnTo>
                  <a:lnTo>
                    <a:pt x="0" y="13749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7" b="-16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143000" y="828675"/>
            <a:ext cx="13494964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TƯƠNG TÁC BẢN ĐỒ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85912" y="2698556"/>
            <a:ext cx="400050" cy="400050"/>
            <a:chOff x="0" y="0"/>
            <a:chExt cx="533400" cy="533400"/>
          </a:xfrm>
        </p:grpSpPr>
        <p:sp>
          <p:nvSpPr>
            <p:cNvPr id="6" name="Freeform 6" descr="preencoded.png"/>
            <p:cNvSpPr/>
            <p:nvPr/>
          </p:nvSpPr>
          <p:spPr>
            <a:xfrm>
              <a:off x="0" y="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785" b="-1785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2200275" y="2746181"/>
            <a:ext cx="3818009" cy="34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>
                <a:solidFill>
                  <a:srgbClr val="14213D"/>
                </a:solidFill>
                <a:latin typeface="Arimo"/>
                <a:ea typeface="Arimo"/>
                <a:cs typeface="Arimo"/>
                <a:sym typeface="Arimo"/>
              </a:rPr>
              <a:t>ĐIỀU HƯỚNG LINH HOẠT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85912" y="3309938"/>
            <a:ext cx="6829425" cy="1373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Hỗ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trợ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thao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tác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Zoom (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phóng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to/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nhỏ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), Pan (di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chuyển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)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mượt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mà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trên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nền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bản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đồ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số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Leaflet.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79631" y="4612481"/>
            <a:ext cx="150019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872662" y="2698556"/>
            <a:ext cx="400050" cy="400050"/>
            <a:chOff x="0" y="0"/>
            <a:chExt cx="533400" cy="53340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785" b="-178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0487025" y="2736656"/>
            <a:ext cx="4028423" cy="34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>
                <a:solidFill>
                  <a:srgbClr val="14213D"/>
                </a:solidFill>
                <a:latin typeface="Arimo"/>
                <a:ea typeface="Arimo"/>
                <a:cs typeface="Arimo"/>
                <a:sym typeface="Arimo"/>
              </a:rPr>
              <a:t>TRUY VẤN THUỘC TÍNH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72662" y="3309938"/>
            <a:ext cx="6829425" cy="907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Tìm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kiếm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nhanh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chóng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: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địa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chỉ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toạ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độ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điểm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chọn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trực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tiếp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766381" y="4612481"/>
            <a:ext cx="150019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872662" y="6532388"/>
            <a:ext cx="400050" cy="400050"/>
            <a:chOff x="0" y="0"/>
            <a:chExt cx="533400" cy="533400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785" b="-1785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487025" y="6570488"/>
            <a:ext cx="4764877" cy="34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>
                <a:solidFill>
                  <a:srgbClr val="14213D"/>
                </a:solidFill>
                <a:latin typeface="Arimo"/>
                <a:ea typeface="Arimo"/>
                <a:cs typeface="Arimo"/>
                <a:sym typeface="Arimo"/>
              </a:rPr>
              <a:t>HIỂN THỊ KẾT QUẢ DỰ ĐOÁN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72662" y="7143769"/>
            <a:ext cx="6829425" cy="907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Hiển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thị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kết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quả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mà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mô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hình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học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máy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đưa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ra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cho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những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vực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chưa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có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trong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79631" y="8327231"/>
            <a:ext cx="150019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585912" y="6534179"/>
            <a:ext cx="400050" cy="400050"/>
            <a:chOff x="0" y="0"/>
            <a:chExt cx="533400" cy="533400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785" b="-1785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2200275" y="6522863"/>
            <a:ext cx="4028423" cy="34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>
                <a:solidFill>
                  <a:srgbClr val="14213D"/>
                </a:solidFill>
                <a:latin typeface="Arimo"/>
                <a:ea typeface="Arimo"/>
                <a:cs typeface="Arimo"/>
                <a:sym typeface="Arimo"/>
              </a:rPr>
              <a:t>TRỰC QUAN HÓA DỮ LIỆU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85912" y="7145560"/>
            <a:ext cx="6829425" cy="907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Hiển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thị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thông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tin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như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tiện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ích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đường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giao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thông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khác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ở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gần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đó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766381" y="8327231"/>
            <a:ext cx="150019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3000" y="828675"/>
            <a:ext cx="12973050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TẦNG XỬ LÝ &amp; TÍNH TOÁN KHÔNG GIAN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84038" y="6561401"/>
            <a:ext cx="375047" cy="428625"/>
            <a:chOff x="0" y="0"/>
            <a:chExt cx="333375" cy="381000"/>
          </a:xfrm>
        </p:grpSpPr>
        <p:sp>
          <p:nvSpPr>
            <p:cNvPr id="4" name="Freeform 4" descr="preencoded.png"/>
            <p:cNvSpPr/>
            <p:nvPr/>
          </p:nvSpPr>
          <p:spPr>
            <a:xfrm>
              <a:off x="0" y="0"/>
              <a:ext cx="333375" cy="381000"/>
            </a:xfrm>
            <a:custGeom>
              <a:avLst/>
              <a:gdLst/>
              <a:ahLst/>
              <a:cxnLst/>
              <a:rect l="l" t="t" r="r" b="b"/>
              <a:pathLst>
                <a:path w="333375" h="381000">
                  <a:moveTo>
                    <a:pt x="0" y="0"/>
                  </a:moveTo>
                  <a:lnTo>
                    <a:pt x="333375" y="0"/>
                  </a:lnTo>
                  <a:lnTo>
                    <a:pt x="333375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50" b="-1250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826529" y="2114801"/>
            <a:ext cx="3490585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>
                <a:solidFill>
                  <a:srgbClr val="14213D"/>
                </a:solidFill>
                <a:latin typeface="Arimo"/>
                <a:ea typeface="Arimo"/>
                <a:cs typeface="Arimo"/>
                <a:sym typeface="Arimo"/>
              </a:rPr>
              <a:t>PHP API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09" y="2590882"/>
            <a:ext cx="15432771" cy="1710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608"/>
              </a:lnSpc>
              <a:buFont typeface="Arial"/>
              <a:buChar char="•"/>
            </a:pP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Xây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dựng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REST API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phục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vụ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hệ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thống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  <a:p>
            <a:pPr marL="647700" lvl="1" indent="-323850" algn="just">
              <a:lnSpc>
                <a:spcPts val="4608"/>
              </a:lnSpc>
              <a:buFont typeface="Arial"/>
              <a:buChar char="•"/>
            </a:pP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Tiếp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nhận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yêu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cầu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từ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giao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diện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web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và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điều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phối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tác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vụ</a:t>
            </a:r>
            <a:endParaRPr lang="en-US" sz="3000" dirty="0">
              <a:solidFill>
                <a:srgbClr val="333333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647700" lvl="1" indent="-323850" algn="just">
              <a:lnSpc>
                <a:spcPts val="4608"/>
              </a:lnSpc>
              <a:buFont typeface="Arial"/>
              <a:buChar char="•"/>
            </a:pP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Kết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nối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với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và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Model Service.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84038" y="4583285"/>
            <a:ext cx="365671" cy="417909"/>
            <a:chOff x="0" y="0"/>
            <a:chExt cx="333375" cy="3810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333375" cy="381000"/>
            </a:xfrm>
            <a:custGeom>
              <a:avLst/>
              <a:gdLst/>
              <a:ahLst/>
              <a:cxnLst/>
              <a:rect l="l" t="t" r="r" b="b"/>
              <a:pathLst>
                <a:path w="333375" h="381000">
                  <a:moveTo>
                    <a:pt x="0" y="0"/>
                  </a:moveTo>
                  <a:lnTo>
                    <a:pt x="333375" y="0"/>
                  </a:lnTo>
                  <a:lnTo>
                    <a:pt x="333375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50" b="-1250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817153" y="4564235"/>
            <a:ext cx="3662793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>
                <a:solidFill>
                  <a:srgbClr val="14213D"/>
                </a:solidFill>
                <a:latin typeface="Arimo"/>
                <a:ea typeface="Arimo"/>
                <a:cs typeface="Arimo"/>
                <a:sym typeface="Arimo"/>
              </a:rPr>
              <a:t>GIS SERVICE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49709" y="5040485"/>
            <a:ext cx="15807818" cy="1129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608"/>
              </a:lnSpc>
              <a:buFont typeface="Arial"/>
              <a:buChar char="•"/>
            </a:pP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Thực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hiện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phép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xử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lý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không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gian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Tìm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kiếm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đối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tượng</a:t>
            </a:r>
            <a:endParaRPr lang="en-US" sz="3000" dirty="0">
              <a:solidFill>
                <a:srgbClr val="333333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647700" lvl="1" indent="-323850" algn="just">
              <a:lnSpc>
                <a:spcPts val="4608"/>
              </a:lnSpc>
              <a:buFont typeface="Arial"/>
              <a:buChar char="•"/>
            </a:pP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Chuyển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đổi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tọa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độ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đo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khoảng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cách</a:t>
            </a:r>
            <a:endParaRPr lang="en-US" sz="3000" dirty="0">
              <a:solidFill>
                <a:srgbClr val="33333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826529" y="6528064"/>
            <a:ext cx="6143061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>
                <a:solidFill>
                  <a:srgbClr val="14213D"/>
                </a:solidFill>
                <a:latin typeface="Arimo"/>
                <a:ea typeface="Arimo"/>
                <a:cs typeface="Arimo"/>
                <a:sym typeface="Arimo"/>
              </a:rPr>
              <a:t>FAST API MODEL SERVICE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59085" y="7013839"/>
            <a:ext cx="16084638" cy="1710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608"/>
              </a:lnSpc>
              <a:buFont typeface="Arial"/>
              <a:buChar char="•"/>
            </a:pP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Cung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cấp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API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dự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đoán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giá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đất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  <a:p>
            <a:pPr marL="647700" lvl="1" indent="-323850" algn="just">
              <a:lnSpc>
                <a:spcPts val="4608"/>
              </a:lnSpc>
              <a:buFont typeface="Arial"/>
              <a:buChar char="•"/>
            </a:pP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Chạy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mô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hình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Machine Learning.</a:t>
            </a:r>
          </a:p>
          <a:p>
            <a:pPr marL="647700" lvl="1" indent="-323850" algn="just">
              <a:lnSpc>
                <a:spcPts val="4608"/>
              </a:lnSpc>
              <a:buFont typeface="Arial"/>
              <a:buChar char="•"/>
            </a:pP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Trả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về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giá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đất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dự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đoán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cùng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chỉ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số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liên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0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quan</a:t>
            </a:r>
            <a:r>
              <a:rPr lang="en-US" sz="30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84038" y="2133851"/>
            <a:ext cx="365671" cy="365671"/>
            <a:chOff x="0" y="0"/>
            <a:chExt cx="571500" cy="57150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3000" y="828675"/>
            <a:ext cx="13826820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FAST API MODEL SERVICE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34250" y="2233145"/>
            <a:ext cx="6829425" cy="34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dirty="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POST </a:t>
            </a:r>
            <a:r>
              <a:rPr lang="en-US" sz="2400" dirty="0">
                <a:latin typeface="Arimo"/>
                <a:ea typeface="Arimo"/>
                <a:cs typeface="Arimo"/>
                <a:sym typeface="Arimo"/>
              </a:rPr>
              <a:t>/</a:t>
            </a:r>
            <a:r>
              <a:rPr lang="en-US" sz="2400" dirty="0" err="1">
                <a:latin typeface="Arimo"/>
                <a:ea typeface="Arimo"/>
                <a:cs typeface="Arimo"/>
                <a:sym typeface="Arimo"/>
              </a:rPr>
              <a:t>api</a:t>
            </a:r>
            <a:r>
              <a:rPr lang="en-US" sz="2400" dirty="0">
                <a:latin typeface="Arimo"/>
                <a:ea typeface="Arimo"/>
                <a:cs typeface="Arimo"/>
                <a:sym typeface="Arimo"/>
              </a:rPr>
              <a:t>/</a:t>
            </a:r>
            <a:r>
              <a:rPr lang="en-US" sz="2400" dirty="0" err="1">
                <a:latin typeface="Arimo"/>
                <a:ea typeface="Arimo"/>
                <a:cs typeface="Arimo"/>
                <a:sym typeface="Arimo"/>
              </a:rPr>
              <a:t>predict.php</a:t>
            </a:r>
            <a:r>
              <a:rPr lang="en-US" sz="2400" dirty="0">
                <a:latin typeface="Arimo"/>
                <a:ea typeface="Arimo"/>
                <a:cs typeface="Arimo"/>
                <a:sym typeface="Arimo"/>
              </a:rPr>
              <a:t> (API </a:t>
            </a:r>
            <a:r>
              <a:rPr lang="en-US" sz="2400" dirty="0" err="1">
                <a:latin typeface="Arimo"/>
                <a:ea typeface="Arimo"/>
                <a:cs typeface="Arimo"/>
                <a:sym typeface="Arimo"/>
              </a:rPr>
              <a:t>mà</a:t>
            </a:r>
            <a:r>
              <a:rPr lang="en-US" sz="24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latin typeface="Arimo"/>
                <a:ea typeface="Arimo"/>
                <a:cs typeface="Arimo"/>
                <a:sym typeface="Arimo"/>
              </a:rPr>
              <a:t>fontend</a:t>
            </a:r>
            <a:r>
              <a:rPr lang="en-US" sz="24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latin typeface="Arimo"/>
                <a:ea typeface="Arimo"/>
                <a:cs typeface="Arimo"/>
                <a:sym typeface="Arimo"/>
              </a:rPr>
              <a:t>gọi</a:t>
            </a:r>
            <a:r>
              <a:rPr lang="en-US" sz="2400" dirty="0">
                <a:latin typeface="Arimo"/>
                <a:ea typeface="Arimo"/>
                <a:cs typeface="Arimo"/>
                <a:sym typeface="Arimo"/>
              </a:rPr>
              <a:t> model)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04300" y="2773093"/>
            <a:ext cx="665937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Bold"/>
                <a:sym typeface="Inter Bold"/>
              </a:rPr>
              <a:t>Input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Bold"/>
                <a:sym typeface="Inter Bold"/>
              </a:rPr>
              <a:t>: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Tọa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độ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(X, Y),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tên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đường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quận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huyện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,..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04300" y="3379717"/>
            <a:ext cx="6659375" cy="1840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Bold"/>
                <a:sym typeface="Inter Bold"/>
              </a:rPr>
              <a:t>Output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Bold"/>
                <a:sym typeface="Inter Bold"/>
              </a:rPr>
              <a:t>: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Giá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đất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năm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2019 (2014-2019)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Giá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đất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năm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2025 (2020-2025)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Thông tin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nguồn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dự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đoán</a:t>
            </a:r>
            <a:endParaRPr lang="en-US" sz="2400" dirty="0">
              <a:solidFill>
                <a:srgbClr val="000000"/>
              </a:solidFill>
              <a:latin typeface="Inter Medium" panose="020B0604020202020204" charset="0"/>
              <a:ea typeface="Inter Medium" panose="020B0604020202020204" charset="0"/>
              <a:cs typeface="Inter Medium"/>
              <a:sym typeface="Inter Medium"/>
            </a:endParaRPr>
          </a:p>
          <a:p>
            <a:pPr algn="l">
              <a:lnSpc>
                <a:spcPts val="2879"/>
              </a:lnSpc>
            </a:pPr>
            <a:endParaRPr lang="en-US" sz="2400" dirty="0">
              <a:solidFill>
                <a:srgbClr val="000000"/>
              </a:solidFill>
              <a:latin typeface="Inter Medium" panose="020B0604020202020204" charset="0"/>
              <a:ea typeface="Inter Medium" panose="020B0604020202020204" charset="0"/>
              <a:cs typeface="Inter Medium"/>
              <a:sym typeface="Inter Mediu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144000" y="2773093"/>
            <a:ext cx="6659375" cy="2212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Bold"/>
                <a:sym typeface="Inter Bold"/>
              </a:rPr>
              <a:t>Logic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Bold"/>
                <a:sym typeface="Inter Bold"/>
              </a:rPr>
              <a:t>: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Trích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xuất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đặc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trưng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không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gian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từ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input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Tra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cứu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gốc</a:t>
            </a:r>
            <a:endParaRPr lang="en-US" sz="2400" dirty="0">
              <a:solidFill>
                <a:srgbClr val="000000"/>
              </a:solidFill>
              <a:latin typeface="Inter Medium" panose="020B0604020202020204" charset="0"/>
              <a:ea typeface="Inter Medium" panose="020B0604020202020204" charset="0"/>
              <a:cs typeface="Inter Medium"/>
              <a:sym typeface="Inter Medium"/>
            </a:endParaRP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Sử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dụng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mô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hình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để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dự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đoán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khi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không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tìm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thấy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phù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hợp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trong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gốc</a:t>
            </a:r>
            <a:endParaRPr lang="en-US" sz="2400" dirty="0">
              <a:solidFill>
                <a:srgbClr val="000000"/>
              </a:solidFill>
              <a:latin typeface="Inter Medium" panose="020B0604020202020204" charset="0"/>
              <a:ea typeface="Inter Medium" panose="020B0604020202020204" charset="0"/>
              <a:cs typeface="Inter Medium"/>
              <a:sym typeface="Inter Medium"/>
            </a:endParaRPr>
          </a:p>
          <a:p>
            <a:pPr algn="l">
              <a:lnSpc>
                <a:spcPts val="2879"/>
              </a:lnSpc>
            </a:pPr>
            <a:endParaRPr lang="en-US" sz="2400" dirty="0">
              <a:solidFill>
                <a:srgbClr val="000000"/>
              </a:solidFill>
              <a:latin typeface="Inter Medium" panose="020B0604020202020204" charset="0"/>
              <a:ea typeface="Inter Medium" panose="020B0604020202020204" charset="0"/>
              <a:cs typeface="Inter Medium"/>
              <a:sym typeface="Inter Medium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421308" y="4275067"/>
            <a:ext cx="16073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  <p:sp>
        <p:nvSpPr>
          <p:cNvPr id="8" name="AutoShape 8"/>
          <p:cNvSpPr/>
          <p:nvPr/>
        </p:nvSpPr>
        <p:spPr>
          <a:xfrm>
            <a:off x="1028700" y="1808733"/>
            <a:ext cx="773829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079814" y="9248775"/>
            <a:ext cx="16179486" cy="95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60106" y="2317453"/>
            <a:ext cx="7613297" cy="5652093"/>
            <a:chOff x="0" y="0"/>
            <a:chExt cx="2005148" cy="14886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05148" cy="1488617"/>
            </a:xfrm>
            <a:custGeom>
              <a:avLst/>
              <a:gdLst/>
              <a:ahLst/>
              <a:cxnLst/>
              <a:rect l="l" t="t" r="r" b="b"/>
              <a:pathLst>
                <a:path w="2005148" h="1488617">
                  <a:moveTo>
                    <a:pt x="51862" y="0"/>
                  </a:moveTo>
                  <a:lnTo>
                    <a:pt x="1953287" y="0"/>
                  </a:lnTo>
                  <a:cubicBezTo>
                    <a:pt x="1981929" y="0"/>
                    <a:pt x="2005148" y="23219"/>
                    <a:pt x="2005148" y="51862"/>
                  </a:cubicBezTo>
                  <a:lnTo>
                    <a:pt x="2005148" y="1436756"/>
                  </a:lnTo>
                  <a:cubicBezTo>
                    <a:pt x="2005148" y="1465398"/>
                    <a:pt x="1981929" y="1488617"/>
                    <a:pt x="1953287" y="1488617"/>
                  </a:cubicBezTo>
                  <a:lnTo>
                    <a:pt x="51862" y="1488617"/>
                  </a:lnTo>
                  <a:cubicBezTo>
                    <a:pt x="23219" y="1488617"/>
                    <a:pt x="0" y="1465398"/>
                    <a:pt x="0" y="1436756"/>
                  </a:cubicBezTo>
                  <a:lnTo>
                    <a:pt x="0" y="51862"/>
                  </a:lnTo>
                  <a:cubicBezTo>
                    <a:pt x="0" y="23219"/>
                    <a:pt x="23219" y="0"/>
                    <a:pt x="51862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005148" cy="1498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43000" y="2317453"/>
            <a:ext cx="7613297" cy="5652093"/>
            <a:chOff x="0" y="0"/>
            <a:chExt cx="2005148" cy="14886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05148" cy="1488617"/>
            </a:xfrm>
            <a:custGeom>
              <a:avLst/>
              <a:gdLst/>
              <a:ahLst/>
              <a:cxnLst/>
              <a:rect l="l" t="t" r="r" b="b"/>
              <a:pathLst>
                <a:path w="2005148" h="1488617">
                  <a:moveTo>
                    <a:pt x="51862" y="0"/>
                  </a:moveTo>
                  <a:lnTo>
                    <a:pt x="1953287" y="0"/>
                  </a:lnTo>
                  <a:cubicBezTo>
                    <a:pt x="1981929" y="0"/>
                    <a:pt x="2005148" y="23219"/>
                    <a:pt x="2005148" y="51862"/>
                  </a:cubicBezTo>
                  <a:lnTo>
                    <a:pt x="2005148" y="1436756"/>
                  </a:lnTo>
                  <a:cubicBezTo>
                    <a:pt x="2005148" y="1465398"/>
                    <a:pt x="1981929" y="1488617"/>
                    <a:pt x="1953287" y="1488617"/>
                  </a:cubicBezTo>
                  <a:lnTo>
                    <a:pt x="51862" y="1488617"/>
                  </a:lnTo>
                  <a:cubicBezTo>
                    <a:pt x="23219" y="1488617"/>
                    <a:pt x="0" y="1465398"/>
                    <a:pt x="0" y="1436756"/>
                  </a:cubicBezTo>
                  <a:lnTo>
                    <a:pt x="0" y="51862"/>
                  </a:lnTo>
                  <a:cubicBezTo>
                    <a:pt x="0" y="23219"/>
                    <a:pt x="23219" y="0"/>
                    <a:pt x="51862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005148" cy="1498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699617" y="2710621"/>
            <a:ext cx="500062" cy="571500"/>
            <a:chOff x="0" y="0"/>
            <a:chExt cx="666750" cy="762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0" y="0"/>
                  </a:moveTo>
                  <a:lnTo>
                    <a:pt x="666750" y="0"/>
                  </a:lnTo>
                  <a:lnTo>
                    <a:pt x="6667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50" b="-125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703329" y="2710621"/>
            <a:ext cx="428625" cy="571500"/>
            <a:chOff x="0" y="0"/>
            <a:chExt cx="571500" cy="76200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571500" cy="762000"/>
            </a:xfrm>
            <a:custGeom>
              <a:avLst/>
              <a:gdLst/>
              <a:ahLst/>
              <a:cxnLst/>
              <a:rect l="l" t="t" r="r" b="b"/>
              <a:pathLst>
                <a:path w="571500" h="762000">
                  <a:moveTo>
                    <a:pt x="0" y="0"/>
                  </a:moveTo>
                  <a:lnTo>
                    <a:pt x="571500" y="0"/>
                  </a:lnTo>
                  <a:lnTo>
                    <a:pt x="5715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33" r="-63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143000" y="828675"/>
            <a:ext cx="13936287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TẦNG DỮ LIỆU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05545" y="3501792"/>
            <a:ext cx="6766333" cy="357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4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FILE GEOJSON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05545" y="4211747"/>
            <a:ext cx="6685966" cy="1840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Lưu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trữ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ranh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giới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hành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chính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của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đường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quận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huyện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trước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sáp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nhập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Giúp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hệ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thống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tự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động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tái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hiện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lại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địa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chỉ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lịch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sử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của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đường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quận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huyện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tại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thời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điểm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trước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sáp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nhập</a:t>
            </a:r>
            <a:endParaRPr lang="en-US" sz="2400" dirty="0">
              <a:solidFill>
                <a:srgbClr val="33333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191511" y="5680959"/>
            <a:ext cx="16073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05156" y="3501792"/>
            <a:ext cx="4224971" cy="357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4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FILE GIÁ ĐẤT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95896" y="4211747"/>
            <a:ext cx="6786637" cy="1840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Cơ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sở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giá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đất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không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gian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(xlsx)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đóng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vai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trò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là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nguồn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cứu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ưu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tiên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;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hệ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thống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sẽ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áp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giá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trực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tiếp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nếu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trùng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khớp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thông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tin,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ngược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lại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mới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kích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hoạt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mô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hình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dự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báo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282532" y="5680959"/>
            <a:ext cx="16073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3000" y="828675"/>
            <a:ext cx="11229975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QUY TRÌNH HOẠT ĐỘNG THỰC TẾ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43000" y="2058985"/>
            <a:ext cx="5024614" cy="7199315"/>
            <a:chOff x="0" y="0"/>
            <a:chExt cx="1323355" cy="18961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23355" cy="1896116"/>
            </a:xfrm>
            <a:custGeom>
              <a:avLst/>
              <a:gdLst/>
              <a:ahLst/>
              <a:cxnLst/>
              <a:rect l="l" t="t" r="r" b="b"/>
              <a:pathLst>
                <a:path w="1323355" h="1896116">
                  <a:moveTo>
                    <a:pt x="78581" y="0"/>
                  </a:moveTo>
                  <a:lnTo>
                    <a:pt x="1244775" y="0"/>
                  </a:lnTo>
                  <a:cubicBezTo>
                    <a:pt x="1265615" y="0"/>
                    <a:pt x="1285603" y="8279"/>
                    <a:pt x="1300340" y="23016"/>
                  </a:cubicBezTo>
                  <a:cubicBezTo>
                    <a:pt x="1315076" y="37753"/>
                    <a:pt x="1323355" y="57740"/>
                    <a:pt x="1323355" y="78581"/>
                  </a:cubicBezTo>
                  <a:lnTo>
                    <a:pt x="1323355" y="1817535"/>
                  </a:lnTo>
                  <a:cubicBezTo>
                    <a:pt x="1323355" y="1838376"/>
                    <a:pt x="1315076" y="1858364"/>
                    <a:pt x="1300340" y="1873100"/>
                  </a:cubicBezTo>
                  <a:cubicBezTo>
                    <a:pt x="1285603" y="1887837"/>
                    <a:pt x="1265615" y="1896116"/>
                    <a:pt x="1244775" y="1896116"/>
                  </a:cubicBezTo>
                  <a:lnTo>
                    <a:pt x="78581" y="1896116"/>
                  </a:lnTo>
                  <a:cubicBezTo>
                    <a:pt x="57740" y="1896116"/>
                    <a:pt x="37753" y="1887837"/>
                    <a:pt x="23016" y="1873100"/>
                  </a:cubicBezTo>
                  <a:cubicBezTo>
                    <a:pt x="8279" y="1858364"/>
                    <a:pt x="0" y="1838376"/>
                    <a:pt x="0" y="1817535"/>
                  </a:cubicBezTo>
                  <a:lnTo>
                    <a:pt x="0" y="78581"/>
                  </a:lnTo>
                  <a:cubicBezTo>
                    <a:pt x="0" y="57740"/>
                    <a:pt x="8279" y="37753"/>
                    <a:pt x="23016" y="23016"/>
                  </a:cubicBezTo>
                  <a:cubicBezTo>
                    <a:pt x="37753" y="8279"/>
                    <a:pt x="57740" y="0"/>
                    <a:pt x="78581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323355" cy="19056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09712" y="2542003"/>
            <a:ext cx="440055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STEP 01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09712" y="3073022"/>
            <a:ext cx="357188" cy="571500"/>
            <a:chOff x="0" y="0"/>
            <a:chExt cx="476250" cy="7620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476250" cy="762000"/>
            </a:xfrm>
            <a:custGeom>
              <a:avLst/>
              <a:gdLst/>
              <a:ahLst/>
              <a:cxnLst/>
              <a:rect l="l" t="t" r="r" b="b"/>
              <a:pathLst>
                <a:path w="476250" h="762000">
                  <a:moveTo>
                    <a:pt x="0" y="0"/>
                  </a:moveTo>
                  <a:lnTo>
                    <a:pt x="476250" y="0"/>
                  </a:lnTo>
                  <a:lnTo>
                    <a:pt x="4762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50" b="-1250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509712" y="4060050"/>
            <a:ext cx="4400550" cy="34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>
                <a:solidFill>
                  <a:srgbClr val="14213D"/>
                </a:solidFill>
                <a:latin typeface="Arimo"/>
                <a:ea typeface="Arimo"/>
                <a:cs typeface="Arimo"/>
                <a:sym typeface="Arimo"/>
              </a:rPr>
              <a:t>TƯƠNG TÁC NGƯỜI DÙNG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00783" y="4636313"/>
            <a:ext cx="4400550" cy="2307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Người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dùng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thực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hiện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click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trực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tiếp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vào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địa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điểm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bất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kỳ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trên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bản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đồ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tương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tác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hoặc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nhập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tìm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trên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khung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tìm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kiếm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để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yêu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cầu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thông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tin.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29895" y="8334375"/>
            <a:ext cx="16073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272212" y="4939903"/>
            <a:ext cx="214312" cy="342900"/>
            <a:chOff x="0" y="0"/>
            <a:chExt cx="285750" cy="45720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285750" cy="457200"/>
            </a:xfrm>
            <a:custGeom>
              <a:avLst/>
              <a:gdLst/>
              <a:ahLst/>
              <a:cxnLst/>
              <a:rect l="l" t="t" r="r" b="b"/>
              <a:pathLst>
                <a:path w="285750" h="457200">
                  <a:moveTo>
                    <a:pt x="0" y="0"/>
                  </a:moveTo>
                  <a:lnTo>
                    <a:pt x="285750" y="0"/>
                  </a:lnTo>
                  <a:lnTo>
                    <a:pt x="2857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83" b="-2083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6581687" y="2058985"/>
            <a:ext cx="5024614" cy="7199315"/>
            <a:chOff x="0" y="0"/>
            <a:chExt cx="1323355" cy="189611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23355" cy="1896116"/>
            </a:xfrm>
            <a:custGeom>
              <a:avLst/>
              <a:gdLst/>
              <a:ahLst/>
              <a:cxnLst/>
              <a:rect l="l" t="t" r="r" b="b"/>
              <a:pathLst>
                <a:path w="1323355" h="1896116">
                  <a:moveTo>
                    <a:pt x="78581" y="0"/>
                  </a:moveTo>
                  <a:lnTo>
                    <a:pt x="1244775" y="0"/>
                  </a:lnTo>
                  <a:cubicBezTo>
                    <a:pt x="1265615" y="0"/>
                    <a:pt x="1285603" y="8279"/>
                    <a:pt x="1300340" y="23016"/>
                  </a:cubicBezTo>
                  <a:cubicBezTo>
                    <a:pt x="1315076" y="37753"/>
                    <a:pt x="1323355" y="57740"/>
                    <a:pt x="1323355" y="78581"/>
                  </a:cubicBezTo>
                  <a:lnTo>
                    <a:pt x="1323355" y="1817535"/>
                  </a:lnTo>
                  <a:cubicBezTo>
                    <a:pt x="1323355" y="1838376"/>
                    <a:pt x="1315076" y="1858364"/>
                    <a:pt x="1300340" y="1873100"/>
                  </a:cubicBezTo>
                  <a:cubicBezTo>
                    <a:pt x="1285603" y="1887837"/>
                    <a:pt x="1265615" y="1896116"/>
                    <a:pt x="1244775" y="1896116"/>
                  </a:cubicBezTo>
                  <a:lnTo>
                    <a:pt x="78581" y="1896116"/>
                  </a:lnTo>
                  <a:cubicBezTo>
                    <a:pt x="57740" y="1896116"/>
                    <a:pt x="37753" y="1887837"/>
                    <a:pt x="23016" y="1873100"/>
                  </a:cubicBezTo>
                  <a:cubicBezTo>
                    <a:pt x="8279" y="1858364"/>
                    <a:pt x="0" y="1838376"/>
                    <a:pt x="0" y="1817535"/>
                  </a:cubicBezTo>
                  <a:lnTo>
                    <a:pt x="0" y="78581"/>
                  </a:lnTo>
                  <a:cubicBezTo>
                    <a:pt x="0" y="57740"/>
                    <a:pt x="8279" y="37753"/>
                    <a:pt x="23016" y="23016"/>
                  </a:cubicBezTo>
                  <a:cubicBezTo>
                    <a:pt x="37753" y="8279"/>
                    <a:pt x="57740" y="0"/>
                    <a:pt x="78581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323355" cy="19056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940153" y="2542003"/>
            <a:ext cx="440055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STEP 02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940153" y="3073022"/>
            <a:ext cx="571500" cy="571500"/>
            <a:chOff x="0" y="0"/>
            <a:chExt cx="762000" cy="762000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50" b="-1250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6940153" y="4060050"/>
            <a:ext cx="4400550" cy="34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>
                <a:solidFill>
                  <a:srgbClr val="14213D"/>
                </a:solidFill>
                <a:latin typeface="Arimo"/>
                <a:ea typeface="Arimo"/>
                <a:cs typeface="Arimo"/>
                <a:sym typeface="Arimo"/>
              </a:rPr>
              <a:t>XỬ LÝ &amp; GỌI API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90147" y="4636313"/>
            <a:ext cx="4400550" cy="3750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Hệ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thống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tự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động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trích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xuất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thuộc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tính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không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gian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(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tọa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độ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tên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đường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phường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)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để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đối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chiếu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trực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tiếp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với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cơ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sở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gốc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;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nếu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không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trùng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khớp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này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sẽ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được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chuyển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đến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API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của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mô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hình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để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dự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báo</a:t>
            </a:r>
            <a:endParaRPr lang="en-US" sz="2400" dirty="0">
              <a:solidFill>
                <a:srgbClr val="33333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290697" y="8334375"/>
            <a:ext cx="16073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1701462" y="4939903"/>
            <a:ext cx="214312" cy="342900"/>
            <a:chOff x="0" y="0"/>
            <a:chExt cx="285750" cy="457200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285750" cy="457200"/>
            </a:xfrm>
            <a:custGeom>
              <a:avLst/>
              <a:gdLst/>
              <a:ahLst/>
              <a:cxnLst/>
              <a:rect l="l" t="t" r="r" b="b"/>
              <a:pathLst>
                <a:path w="285750" h="457200">
                  <a:moveTo>
                    <a:pt x="0" y="0"/>
                  </a:moveTo>
                  <a:lnTo>
                    <a:pt x="285750" y="0"/>
                  </a:lnTo>
                  <a:lnTo>
                    <a:pt x="2857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83" b="-2083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2011025" y="2058985"/>
            <a:ext cx="5024614" cy="7199315"/>
            <a:chOff x="0" y="0"/>
            <a:chExt cx="1323355" cy="189611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323355" cy="1896116"/>
            </a:xfrm>
            <a:custGeom>
              <a:avLst/>
              <a:gdLst/>
              <a:ahLst/>
              <a:cxnLst/>
              <a:rect l="l" t="t" r="r" b="b"/>
              <a:pathLst>
                <a:path w="1323355" h="1896116">
                  <a:moveTo>
                    <a:pt x="78581" y="0"/>
                  </a:moveTo>
                  <a:lnTo>
                    <a:pt x="1244775" y="0"/>
                  </a:lnTo>
                  <a:cubicBezTo>
                    <a:pt x="1265615" y="0"/>
                    <a:pt x="1285603" y="8279"/>
                    <a:pt x="1300340" y="23016"/>
                  </a:cubicBezTo>
                  <a:cubicBezTo>
                    <a:pt x="1315076" y="37753"/>
                    <a:pt x="1323355" y="57740"/>
                    <a:pt x="1323355" y="78581"/>
                  </a:cubicBezTo>
                  <a:lnTo>
                    <a:pt x="1323355" y="1817535"/>
                  </a:lnTo>
                  <a:cubicBezTo>
                    <a:pt x="1323355" y="1838376"/>
                    <a:pt x="1315076" y="1858364"/>
                    <a:pt x="1300340" y="1873100"/>
                  </a:cubicBezTo>
                  <a:cubicBezTo>
                    <a:pt x="1285603" y="1887837"/>
                    <a:pt x="1265615" y="1896116"/>
                    <a:pt x="1244775" y="1896116"/>
                  </a:cubicBezTo>
                  <a:lnTo>
                    <a:pt x="78581" y="1896116"/>
                  </a:lnTo>
                  <a:cubicBezTo>
                    <a:pt x="57740" y="1896116"/>
                    <a:pt x="37753" y="1887837"/>
                    <a:pt x="23016" y="1873100"/>
                  </a:cubicBezTo>
                  <a:cubicBezTo>
                    <a:pt x="8279" y="1858364"/>
                    <a:pt x="0" y="1838376"/>
                    <a:pt x="0" y="1817535"/>
                  </a:cubicBezTo>
                  <a:lnTo>
                    <a:pt x="0" y="78581"/>
                  </a:lnTo>
                  <a:cubicBezTo>
                    <a:pt x="0" y="57740"/>
                    <a:pt x="8279" y="37753"/>
                    <a:pt x="23016" y="23016"/>
                  </a:cubicBezTo>
                  <a:cubicBezTo>
                    <a:pt x="37753" y="8279"/>
                    <a:pt x="57740" y="0"/>
                    <a:pt x="78581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1323355" cy="19056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323057" y="2470575"/>
            <a:ext cx="440055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STEP 03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2323057" y="3001594"/>
            <a:ext cx="571500" cy="571500"/>
            <a:chOff x="0" y="0"/>
            <a:chExt cx="762000" cy="762000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50" b="-1250"/>
              </a:stretch>
            </a:blipFill>
          </p:spPr>
        </p:sp>
      </p:grpSp>
      <p:sp>
        <p:nvSpPr>
          <p:cNvPr id="31" name="TextBox 31"/>
          <p:cNvSpPr txBox="1"/>
          <p:nvPr/>
        </p:nvSpPr>
        <p:spPr>
          <a:xfrm>
            <a:off x="12323057" y="3988622"/>
            <a:ext cx="4400550" cy="34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>
                <a:solidFill>
                  <a:srgbClr val="14213D"/>
                </a:solidFill>
                <a:latin typeface="Arimo"/>
                <a:ea typeface="Arimo"/>
                <a:cs typeface="Arimo"/>
                <a:sym typeface="Arimo"/>
              </a:rPr>
              <a:t>HIỂN THỊ KẾT QUẢ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394495" y="4542263"/>
            <a:ext cx="4239816" cy="2307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Kết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quả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giá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đất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ước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tính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cho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năm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2019 (2014-2019)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và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2025 (2020-2025)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được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hiển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thị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ngay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lập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tức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trên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giao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diện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730751" y="8334375"/>
            <a:ext cx="16073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143000" y="828675"/>
            <a:ext cx="10938867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14213D"/>
                </a:solidFill>
                <a:latin typeface="Arimo Bold"/>
                <a:ea typeface="Arimo Bold"/>
                <a:cs typeface="Arimo Bold"/>
                <a:sym typeface="Arimo Bold"/>
              </a:rPr>
              <a:t>HẠN CHẾ &amp; HƯỚNG PHÁT TRIỂN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43000" y="2441372"/>
            <a:ext cx="314325" cy="314325"/>
            <a:chOff x="0" y="0"/>
            <a:chExt cx="419100" cy="419100"/>
          </a:xfrm>
        </p:grpSpPr>
        <p:sp>
          <p:nvSpPr>
            <p:cNvPr id="6" name="Freeform 6" descr="preencoded.png"/>
            <p:cNvSpPr/>
            <p:nvPr/>
          </p:nvSpPr>
          <p:spPr>
            <a:xfrm>
              <a:off x="0" y="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272" b="-2272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671638" y="2387203"/>
            <a:ext cx="3853292" cy="34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>
                <a:solidFill>
                  <a:srgbClr val="14213D"/>
                </a:solidFill>
                <a:latin typeface="Arimo"/>
                <a:ea typeface="Arimo"/>
                <a:cs typeface="Arimo"/>
                <a:sym typeface="Arimo"/>
              </a:rPr>
              <a:t>HẠN CHẾ HIỆN TẠI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13050" y="3152775"/>
            <a:ext cx="7402325" cy="1840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400" dirty="0" err="1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Hạn</a:t>
            </a:r>
            <a:r>
              <a:rPr lang="en-US" sz="2400" dirty="0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chế</a:t>
            </a:r>
            <a:r>
              <a:rPr lang="en-US" sz="2400" dirty="0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về</a:t>
            </a:r>
            <a:r>
              <a:rPr lang="en-US" sz="2400" dirty="0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dữ</a:t>
            </a:r>
            <a:r>
              <a:rPr lang="en-US" sz="2400" dirty="0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liệu</a:t>
            </a:r>
            <a:r>
              <a:rPr lang="en-US" sz="2400" dirty="0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: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giá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đất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còn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giới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hạn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về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số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lượng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và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phạm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vi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vực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Chưa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cập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nhật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theo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thời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gian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thực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nên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chưa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phản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ánh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kịp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thời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biến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động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của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thị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trường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0162" y="5315769"/>
            <a:ext cx="7402325" cy="2307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400" dirty="0" err="1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Hạn</a:t>
            </a:r>
            <a:r>
              <a:rPr lang="en-US" sz="2400" dirty="0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chế</a:t>
            </a:r>
            <a:r>
              <a:rPr lang="en-US" sz="2400" dirty="0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về</a:t>
            </a:r>
            <a:r>
              <a:rPr lang="en-US" sz="2400" dirty="0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mô</a:t>
            </a:r>
            <a:r>
              <a:rPr lang="en-US" sz="2400" dirty="0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hình</a:t>
            </a:r>
            <a:r>
              <a:rPr lang="en-US" sz="2400" dirty="0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: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Khả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năng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dự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đoán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tại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vực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có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ít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huấn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luyện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còn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chưa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tốt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Mô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hình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chưa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khai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thác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đầy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đủ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yếu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tố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ảnh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hưởng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đến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giá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đất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như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quy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hoạch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hạ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tầng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giao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thông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tiện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ích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xung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quanh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mật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độ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dân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cư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,...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563481" y="2387584"/>
            <a:ext cx="7590663" cy="6096036"/>
            <a:chOff x="0" y="0"/>
            <a:chExt cx="10120884" cy="812804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20884" cy="8127988"/>
            </a:xfrm>
            <a:custGeom>
              <a:avLst/>
              <a:gdLst/>
              <a:ahLst/>
              <a:cxnLst/>
              <a:rect l="l" t="t" r="r" b="b"/>
              <a:pathLst>
                <a:path w="10120884" h="8127988">
                  <a:moveTo>
                    <a:pt x="0" y="0"/>
                  </a:moveTo>
                  <a:lnTo>
                    <a:pt x="10120884" y="0"/>
                  </a:lnTo>
                  <a:lnTo>
                    <a:pt x="10120884" y="8127988"/>
                  </a:lnTo>
                  <a:lnTo>
                    <a:pt x="0" y="8127988"/>
                  </a:lnTo>
                  <a:close/>
                </a:path>
              </a:pathLst>
            </a:custGeom>
            <a:solidFill>
              <a:srgbClr val="FCFCFC"/>
            </a:solidFill>
            <a:ln w="18288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9858375" y="2182416"/>
            <a:ext cx="2803922" cy="292894"/>
            <a:chOff x="0" y="0"/>
            <a:chExt cx="3738562" cy="3905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738626" cy="390525"/>
            </a:xfrm>
            <a:custGeom>
              <a:avLst/>
              <a:gdLst/>
              <a:ahLst/>
              <a:cxnLst/>
              <a:rect l="l" t="t" r="r" b="b"/>
              <a:pathLst>
                <a:path w="3738626" h="390525">
                  <a:moveTo>
                    <a:pt x="0" y="0"/>
                  </a:moveTo>
                  <a:lnTo>
                    <a:pt x="3738626" y="0"/>
                  </a:lnTo>
                  <a:lnTo>
                    <a:pt x="3738626" y="390525"/>
                  </a:lnTo>
                  <a:lnTo>
                    <a:pt x="0" y="39052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9563481" y="1991916"/>
            <a:ext cx="369501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[ TẦM NHÌN TƯƠNG LAI ]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144125" y="3012872"/>
            <a:ext cx="314325" cy="314325"/>
            <a:chOff x="0" y="0"/>
            <a:chExt cx="419100" cy="419100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272" b="-2272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672762" y="2958703"/>
            <a:ext cx="3198667" cy="34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>
                <a:solidFill>
                  <a:srgbClr val="14213D"/>
                </a:solidFill>
                <a:latin typeface="Arimo"/>
                <a:ea typeface="Arimo"/>
                <a:cs typeface="Arimo"/>
                <a:sym typeface="Arimo"/>
              </a:rPr>
              <a:t>HƯỚNG PHÁT TRIỂN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14175" y="3724275"/>
            <a:ext cx="6259325" cy="1840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400" dirty="0" err="1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Mở</a:t>
            </a:r>
            <a:r>
              <a:rPr lang="en-US" sz="2400" dirty="0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rộng</a:t>
            </a:r>
            <a:r>
              <a:rPr lang="en-US" sz="2400" dirty="0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dữ</a:t>
            </a:r>
            <a:r>
              <a:rPr lang="en-US" sz="2400" dirty="0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liệu</a:t>
            </a:r>
            <a:r>
              <a:rPr lang="en-US" sz="2400" dirty="0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: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Thu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thập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thêm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giá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đất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từ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nhiều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năm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và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nhiều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vực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khác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nhau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Tích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hợp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dữ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liệu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quy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hoạch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giao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thông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dân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cư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và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tiện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ích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công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cộng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14175" y="5782494"/>
            <a:ext cx="6259325" cy="2307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400" dirty="0" err="1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Nâng</a:t>
            </a:r>
            <a:r>
              <a:rPr lang="en-US" sz="2400" dirty="0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cao</a:t>
            </a:r>
            <a:r>
              <a:rPr lang="en-US" sz="2400" dirty="0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chất</a:t>
            </a:r>
            <a:r>
              <a:rPr lang="en-US" sz="2400" dirty="0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lượng</a:t>
            </a:r>
            <a:r>
              <a:rPr lang="en-US" sz="2400" dirty="0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mô</a:t>
            </a:r>
            <a:r>
              <a:rPr lang="en-US" sz="2400" dirty="0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hình</a:t>
            </a:r>
            <a:r>
              <a:rPr lang="en-US" sz="2400" dirty="0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: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Thử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nghiệm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nhiều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thuật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toán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hơn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Bổ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sung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thêm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đặc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trưng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không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gian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như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khoảng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cách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đến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trung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tâm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trường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học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bệnh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viện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đường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lớn</a:t>
            </a:r>
            <a:r>
              <a:rPr lang="en-US" sz="2400" dirty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,...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659225" y="7820025"/>
            <a:ext cx="20002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CA311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40956" y="4055753"/>
            <a:ext cx="13006087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5000" b="1" dirty="0">
                <a:solidFill>
                  <a:srgbClr val="FCA311"/>
                </a:solidFill>
                <a:latin typeface="Arimo Bold"/>
                <a:ea typeface="Arimo Bold"/>
                <a:cs typeface="Arimo Bold"/>
                <a:sym typeface="Arimo Bold"/>
              </a:rPr>
              <a:t>THANK YOU !!!</a:t>
            </a:r>
          </a:p>
        </p:txBody>
      </p:sp>
      <p:sp>
        <p:nvSpPr>
          <p:cNvPr id="3" name="AutoShape 3"/>
          <p:cNvSpPr/>
          <p:nvPr/>
        </p:nvSpPr>
        <p:spPr>
          <a:xfrm>
            <a:off x="1079814" y="9248775"/>
            <a:ext cx="16179486" cy="95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28703" y="1033462"/>
            <a:ext cx="16179486" cy="95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6931823" y="4781550"/>
            <a:ext cx="4424353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Thành </a:t>
            </a:r>
            <a:r>
              <a:rPr lang="en-US" sz="2400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viên</a:t>
            </a:r>
            <a:r>
              <a:rPr lang="en-US" sz="2400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thực</a:t>
            </a:r>
            <a:r>
              <a:rPr lang="en-US" sz="2400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hiện</a:t>
            </a:r>
            <a:r>
              <a:rPr lang="en-US" sz="2400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: </a:t>
            </a:r>
            <a:r>
              <a:rPr lang="en-US" sz="2400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Nhóm</a:t>
            </a:r>
            <a:r>
              <a:rPr lang="en-US" sz="2400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1902</Words>
  <Application>Microsoft Office PowerPoint</Application>
  <PresentationFormat>Custom</PresentationFormat>
  <Paragraphs>208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Inter Medium</vt:lpstr>
      <vt:lpstr>Inter Bold</vt:lpstr>
      <vt:lpstr>Arimo Bold</vt:lpstr>
      <vt:lpstr>Arimo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WEBGIS &amp; MACHINE LEARNING TRONG ĐỊNH GIÁ ĐẤT TP.HCM</dc:title>
  <cp:lastModifiedBy>Lê My</cp:lastModifiedBy>
  <cp:revision>2</cp:revision>
  <dcterms:created xsi:type="dcterms:W3CDTF">2006-08-16T00:00:00Z</dcterms:created>
  <dcterms:modified xsi:type="dcterms:W3CDTF">2026-06-19T15:56:35Z</dcterms:modified>
  <dc:identifier>DAHM0DQQH10</dc:identifier>
</cp:coreProperties>
</file>